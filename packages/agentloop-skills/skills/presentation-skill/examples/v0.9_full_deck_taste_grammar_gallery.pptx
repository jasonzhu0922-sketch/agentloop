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3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4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5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6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charts/chart7.xml" ContentType="application/vnd.openxmlformats-officedocument.drawingml.chart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charts/chart8.xml" ContentType="application/vnd.openxmlformats-officedocument.drawingml.chart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415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Shade</c:v>
                  </c:pt>
                  <c:pt idx="1">
                    <c:v>Cool roof</c:v>
                  </c:pt>
                  <c:pt idx="2">
                    <c:v>Combined</c:v>
                  </c:pt>
                  <c:pt idx="3">
                    <c:v>Target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</c:v>
                </c:pt>
                <c:pt idx="1">
                  <c:v>2.4</c:v>
                </c:pt>
                <c:pt idx="2">
                  <c:v>4.1</c:v>
                </c:pt>
                <c:pt idx="3">
                  <c:v>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64748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64748B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64748B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B556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2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30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B556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Shade</c:v>
                  </c:pt>
                  <c:pt idx="1">
                    <c:v>Cool roof</c:v>
                  </c:pt>
                  <c:pt idx="2">
                    <c:v>Combined</c:v>
                  </c:pt>
                  <c:pt idx="3">
                    <c:v>Target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</c:v>
                </c:pt>
                <c:pt idx="1">
                  <c:v>2.4</c:v>
                </c:pt>
                <c:pt idx="2">
                  <c:v>4.1</c:v>
                </c:pt>
                <c:pt idx="3">
                  <c:v>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B556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B5563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B5563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5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B5563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B5563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75569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93A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Shade</c:v>
                  </c:pt>
                  <c:pt idx="1">
                    <c:v>Cool roof</c:v>
                  </c:pt>
                  <c:pt idx="2">
                    <c:v>Combined</c:v>
                  </c:pt>
                  <c:pt idx="3">
                    <c:v>Target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</c:v>
                </c:pt>
                <c:pt idx="1">
                  <c:v>2.4</c:v>
                </c:pt>
                <c:pt idx="2">
                  <c:v>4.1</c:v>
                </c:pt>
                <c:pt idx="3">
                  <c:v>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75569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75569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75569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6B728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461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293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Shade</c:v>
                  </c:pt>
                  <c:pt idx="1">
                    <c:v>Cool roof</c:v>
                  </c:pt>
                  <c:pt idx="2">
                    <c:v>Combined</c:v>
                  </c:pt>
                  <c:pt idx="3">
                    <c:v>Target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</c:v>
                </c:pt>
                <c:pt idx="1">
                  <c:v>2.4</c:v>
                </c:pt>
                <c:pt idx="2">
                  <c:v>4.1</c:v>
                </c:pt>
                <c:pt idx="3">
                  <c:v>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6B728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6B7280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6B7280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9A341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9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341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Shade</c:v>
                  </c:pt>
                  <c:pt idx="1">
                    <c:v>Cool roof</c:v>
                  </c:pt>
                  <c:pt idx="2">
                    <c:v>Combined</c:v>
                  </c:pt>
                  <c:pt idx="3">
                    <c:v>Target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</c:v>
                </c:pt>
                <c:pt idx="1">
                  <c:v>2.4</c:v>
                </c:pt>
                <c:pt idx="2">
                  <c:v>4.1</c:v>
                </c:pt>
                <c:pt idx="3">
                  <c:v>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9A3412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A341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3412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ED7A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9A341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3412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6D28D9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Shade</c:v>
                  </c:pt>
                  <c:pt idx="1">
                    <c:v>Cool roof</c:v>
                  </c:pt>
                  <c:pt idx="2">
                    <c:v>Combined</c:v>
                  </c:pt>
                  <c:pt idx="3">
                    <c:v>Target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</c:v>
                </c:pt>
                <c:pt idx="1">
                  <c:v>2.4</c:v>
                </c:pt>
                <c:pt idx="2">
                  <c:v>4.1</c:v>
                </c:pt>
                <c:pt idx="3">
                  <c:v>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6D28D9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6D28D9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D28D9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6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6D28D9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D28D9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9A341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341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Shade</c:v>
                  </c:pt>
                  <c:pt idx="1">
                    <c:v>Cool roof</c:v>
                  </c:pt>
                  <c:pt idx="2">
                    <c:v>Combined</c:v>
                  </c:pt>
                  <c:pt idx="3">
                    <c:v>Target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</c:v>
                </c:pt>
                <c:pt idx="1">
                  <c:v>2.4</c:v>
                </c:pt>
                <c:pt idx="2">
                  <c:v>4.1</c:v>
                </c:pt>
                <c:pt idx="3">
                  <c:v>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9A3412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A341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3412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ED7A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9A341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3412"/>
                </a:solidFill>
                <a:latin typeface="Helvetica Neu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94A3B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Shade</c:v>
                  </c:pt>
                  <c:pt idx="1">
                    <c:v>Cool roof</c:v>
                  </c:pt>
                  <c:pt idx="2">
                    <c:v>Combined</c:v>
                  </c:pt>
                  <c:pt idx="3">
                    <c:v>Target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</c:v>
                </c:pt>
                <c:pt idx="1">
                  <c:v>2.4</c:v>
                </c:pt>
                <c:pt idx="2">
                  <c:v>4.1</c:v>
                </c:pt>
                <c:pt idx="3">
                  <c:v>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94A3B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4A3B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64748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94A3B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1188720"/>
            <a:ext cx="1920240" cy="1920240"/>
          </a:xfrm>
          <a:prstGeom prst="ellipse">
            <a:avLst/>
          </a:prstGeom>
          <a:solidFill>
            <a:srgbClr val="0F172A">
              <a:alpha val="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731520"/>
            <a:ext cx="2834640" cy="2834640"/>
          </a:xfrm>
          <a:prstGeom prst="ellipse">
            <a:avLst/>
          </a:prstGeom>
          <a:solidFill>
            <a:srgbClr val="0F172A">
              <a:alpha val="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00600" y="228600"/>
            <a:ext cx="3840480" cy="3840480"/>
          </a:xfrm>
          <a:prstGeom prst="ellipse">
            <a:avLst/>
          </a:prstGeom>
          <a:solidFill>
            <a:srgbClr val="0F172A">
              <a:alpha val="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44968" y="1527048"/>
            <a:ext cx="146304" cy="146304"/>
          </a:xfrm>
          <a:prstGeom prst="ellipse">
            <a:avLst/>
          </a:prstGeom>
          <a:solidFill>
            <a:srgbClr val="0EA5E9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54864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28800"/>
            <a:ext cx="8229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Cooling the Last 5 Degrees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11880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neighborhood heat-resilience pilot designed for measurable relief, accountable delivery, and a 90-day decision.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Answer Pyramid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5488" y="122529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956816" y="1005840"/>
            <a:ext cx="0" cy="4498848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22576" y="10241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GOVERNING QUESTION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2322576" y="1481328"/>
            <a:ext cx="614476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exposure to action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2322576" y="3822192"/>
            <a:ext cx="5815584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22576" y="3822192"/>
            <a:ext cx="73152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78608" y="4023360"/>
            <a:ext cx="5248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Locate the hottest blocks, test three interventions, then scale only what improves lived conditions.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990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Heat exposure is concentrated enough to make a targeted pilot testable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evidence anchors before intervention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468880" cy="2189988"/>
          </a:xfrm>
          <a:prstGeom prst="rect">
            <a:avLst/>
          </a:prstGeom>
          <a:solidFill>
            <a:srgbClr val="0F172A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68580" cy="21899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4710" y="1889150"/>
            <a:ext cx="2073859" cy="61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5.2°C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54710" y="2612075"/>
            <a:ext cx="2073859" cy="48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Peak heat gap · versus city median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37560" y="1691640"/>
            <a:ext cx="5349240" cy="635097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691640"/>
            <a:ext cx="54864" cy="635097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02152" y="1801368"/>
            <a:ext cx="1417320" cy="415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010912" y="1801368"/>
            <a:ext cx="3511296" cy="415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Priority blocks · high exposure + vulnerability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37560" y="2469086"/>
            <a:ext cx="5349240" cy="635097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2469086"/>
            <a:ext cx="54864" cy="635097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02152" y="2578814"/>
            <a:ext cx="1417320" cy="415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38%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010912" y="2578814"/>
            <a:ext cx="3511296" cy="314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 canopy · below target coverage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Answer Pyramid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3/64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4210812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26567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small geography carries a disproportionate share of the risk.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990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Permanent shade creates durable value; rapid cooling buys learning speed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complementary intervention postures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867912" cy="1811335"/>
          </a:xfrm>
          <a:prstGeom prst="rect">
            <a:avLst/>
          </a:prstGeom>
          <a:solidFill>
            <a:srgbClr val="FFFFFF"/>
          </a:solidFill>
          <a:ln w="825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64008" cy="1811335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" y="2294031"/>
            <a:ext cx="1088136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durable shade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801368" y="2185827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Tree and canopy corridors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Higher setup cost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Long-lived neighborhood benefit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818888" y="1691640"/>
            <a:ext cx="3867912" cy="1811335"/>
          </a:xfrm>
          <a:prstGeom prst="rect">
            <a:avLst/>
          </a:prstGeom>
          <a:solidFill>
            <a:srgbClr val="FFFFFF"/>
          </a:solidFill>
          <a:ln w="825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888" y="1691640"/>
            <a:ext cx="64008" cy="1811335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65192" y="2294031"/>
            <a:ext cx="1088136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 rapid cooling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63056" y="2263551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Cool roofs and misting stops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Fast deployment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Shorter asset life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57200" y="3736696"/>
            <a:ext cx="8229600" cy="701162"/>
          </a:xfrm>
          <a:prstGeom prst="rect">
            <a:avLst/>
          </a:prstGeom>
          <a:solidFill>
            <a:srgbClr val="0F172A"/>
          </a:solidFill>
          <a:ln w="8255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942497"/>
            <a:ext cx="804672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Pair one durable corridor with two rapid-cooling test blocks.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Answer Pyramid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4/64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990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combined intervention is expected to close most of the heat gap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Modeled peak surface-temperature reduction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925312" cy="29215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566928" y="1783080"/>
          <a:ext cx="5705856" cy="27386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793992" y="1691640"/>
            <a:ext cx="1892808" cy="1227033"/>
          </a:xfrm>
          <a:prstGeom prst="rect">
            <a:avLst/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85432" y="178308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READOUT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6885432" y="2148840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4.1°C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6885432" y="2715768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Combined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6793992" y="3123179"/>
            <a:ext cx="1892808" cy="671833"/>
          </a:xfrm>
          <a:prstGeom prst="rect">
            <a:avLst/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93992" y="3123179"/>
            <a:ext cx="50292" cy="6718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40296" y="3214619"/>
            <a:ext cx="605699" cy="48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4.1°C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637435" y="3214619"/>
            <a:ext cx="903061" cy="488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Combined · modeled reduction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793992" y="3941315"/>
            <a:ext cx="1892808" cy="671833"/>
          </a:xfrm>
          <a:prstGeom prst="rect">
            <a:avLst/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93992" y="3941315"/>
            <a:ext cx="50292" cy="67183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40296" y="4032755"/>
            <a:ext cx="605699" cy="4889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91%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637435" y="4032755"/>
            <a:ext cx="903061" cy="488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target · before field correction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Answer Pyramid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5/64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990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workstream has an owner, proof signal, and decision date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Editable 90-day delivery ledger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925312" cy="2921508"/>
        </p:xfrm>
        <a:graphic>
          <a:graphicData uri="http://schemas.openxmlformats.org/drawingml/2006/table">
            <a:tbl>
              <a:tblPr/>
              <a:tblGrid>
                <a:gridCol w="1481328"/>
                <a:gridCol w="1481328"/>
                <a:gridCol w="1481328"/>
                <a:gridCol w="148132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Workstream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Owner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Proof signal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Decision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A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Baseline sensors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Climate lab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14 blocks live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14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Shade corridor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Public works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2°C reduction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60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Cool-roof cohort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Housing team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3°C reduction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60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Resident pulse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Community team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Comfort improves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75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793992" y="1691640"/>
            <a:ext cx="1892808" cy="2921508"/>
          </a:xfrm>
          <a:prstGeom prst="rect">
            <a:avLst/>
          </a:prstGeom>
          <a:solidFill>
            <a:srgbClr val="FFFFFF"/>
          </a:solidFill>
          <a:ln w="8255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93992" y="1691640"/>
            <a:ext cx="64008" cy="29215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58584" y="1837944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spc="120" kern="0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READOUT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6958584" y="2240280"/>
            <a:ext cx="1581912" cy="1045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only interventions that improve both measured heat and resident comfort.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Answer Pyramid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6/64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990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Authorize the pilot with four explicit conditions for scale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conditions and accountability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785616" cy="993313"/>
          </a:xfrm>
          <a:prstGeom prst="rect">
            <a:avLst/>
          </a:prstGeom>
          <a:solidFill>
            <a:srgbClr val="FFFFFF"/>
          </a:solidFill>
          <a:ln w="825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64008" cy="99331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39896" y="184708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184708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Proceed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12648" y="2231136"/>
            <a:ext cx="3474720" cy="298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 fourteen-block baseline and three intervention cohorts.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01184" y="1691640"/>
            <a:ext cx="3785616" cy="993313"/>
          </a:xfrm>
          <a:prstGeom prst="rect">
            <a:avLst/>
          </a:prstGeom>
          <a:solidFill>
            <a:srgbClr val="FFFFFF"/>
          </a:solidFill>
          <a:ln w="825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01184" y="1691640"/>
            <a:ext cx="64008" cy="993313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83880" y="184708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056632" y="184708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Protect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056632" y="2231136"/>
            <a:ext cx="3474720" cy="298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Prioritize vulnerable residents and public-space access.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918673"/>
            <a:ext cx="3785616" cy="876452"/>
          </a:xfrm>
          <a:prstGeom prst="rect">
            <a:avLst/>
          </a:prstGeom>
          <a:solidFill>
            <a:srgbClr val="FFFFFF"/>
          </a:solidFill>
          <a:ln w="825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918673"/>
            <a:ext cx="64008" cy="8764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" y="3210596"/>
            <a:ext cx="10180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703893" y="3156367"/>
            <a:ext cx="2383475" cy="4010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Track temperature, comfort, uptime, and maintenance burden.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01184" y="2918673"/>
            <a:ext cx="3785616" cy="876452"/>
          </a:xfrm>
          <a:prstGeom prst="rect">
            <a:avLst/>
          </a:prstGeom>
          <a:solidFill>
            <a:srgbClr val="FFFFFF"/>
          </a:solidFill>
          <a:ln w="825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01184" y="2918673"/>
            <a:ext cx="64008" cy="8764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56632" y="3210596"/>
            <a:ext cx="10180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Stop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147877" y="3156367"/>
            <a:ext cx="2383475" cy="4010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not scale an intervention that misses both proof thresholds.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4028846"/>
            <a:ext cx="8229600" cy="584302"/>
          </a:xfrm>
          <a:prstGeom prst="rect">
            <a:avLst/>
          </a:prstGeom>
          <a:solidFill>
            <a:srgbClr val="0F172A"/>
          </a:solidFill>
          <a:ln w="8255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" y="4165549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Decision: release pilot funds now; return at day 90 with scale evidence.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Answer Pyramid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7/64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73152"/>
            <a:ext cx="1920240" cy="320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73152"/>
            <a:ext cx="6364224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704588"/>
            <a:ext cx="8375904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Methods and sources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Illustrative evidence register for the editable gallery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72540"/>
          <a:ext cx="6089904" cy="3340608"/>
        </p:xfrm>
        <a:graphic>
          <a:graphicData uri="http://schemas.openxmlformats.org/drawingml/2006/table">
            <a:tbl>
              <a:tblPr/>
              <a:tblGrid>
                <a:gridCol w="2029968"/>
                <a:gridCol w="2029968"/>
                <a:gridCol w="2029968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ID</a:t>
                      </a:r>
                      <a:endParaRPr lang="en-US" sz="8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Source</a:t>
                      </a:r>
                      <a:endParaRPr lang="en-US" sz="8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Use</a:t>
                      </a:r>
                      <a:endParaRPr lang="en-US" sz="8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S1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sensor baseline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Heat-gap framing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S2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canopy inventory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Target blocks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S3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intervention model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Scenario comparison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S4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resident pulse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Comfort threshold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958584" y="1272540"/>
            <a:ext cx="1728216" cy="3340608"/>
          </a:xfrm>
          <a:prstGeom prst="rect">
            <a:avLst/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50024" y="1363980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NOTES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7050024" y="1748028"/>
            <a:ext cx="1545336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values are synthetic and included only to demonstrate source-aware slide structure.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Answer Pyramid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8/64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56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LAB PRESENTATION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91440" cy="156362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060704"/>
            <a:ext cx="8001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Cooling the Last 5 Degrees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03120"/>
            <a:ext cx="8001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neighborhood heat-resilience pilot designed for measurable relief, accountable delivery, and a 90-day decision.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187952"/>
            <a:ext cx="1664208" cy="310896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2428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40280" y="4187952"/>
            <a:ext cx="1664208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31720" y="42428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READOUT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23360" y="4187952"/>
            <a:ext cx="1664208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0" y="42428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RUN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Evidence Plate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" y="65836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STUDY PHASE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493776" y="1408176"/>
            <a:ext cx="76443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exposure to action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" y="2688336"/>
            <a:ext cx="7150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Locate the hottest blocks, test three interventions, then scale only what improves lived conditions.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" y="4151376"/>
            <a:ext cx="1755648" cy="566928"/>
          </a:xfrm>
          <a:prstGeom prst="rect">
            <a:avLst/>
          </a:prstGeom>
          <a:solidFill>
            <a:srgbClr val="FFFFFF">
              <a:alpha val="92000"/>
            </a:srgbClr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" y="434340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87168" y="4151376"/>
            <a:ext cx="1755648" cy="566928"/>
          </a:xfrm>
          <a:prstGeom prst="rect">
            <a:avLst/>
          </a:prstGeom>
          <a:solidFill>
            <a:srgbClr val="FFFFFF">
              <a:alpha val="92000"/>
            </a:srgbClr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96896" y="434340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80560" y="4151376"/>
            <a:ext cx="1755648" cy="566928"/>
          </a:xfrm>
          <a:prstGeom prst="rect">
            <a:avLst/>
          </a:prstGeom>
          <a:solidFill>
            <a:srgbClr val="0B2545"/>
          </a:solidFill>
          <a:ln w="762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90288" y="434340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READOUT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73952" y="4151376"/>
            <a:ext cx="1755648" cy="566928"/>
          </a:xfrm>
          <a:prstGeom prst="rect">
            <a:avLst/>
          </a:prstGeom>
          <a:solidFill>
            <a:srgbClr val="FFFFFF">
              <a:alpha val="92000"/>
            </a:srgbClr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434340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Heat exposure is concentrated enough to make a targeted pilot testable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200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evidence anchors before intervention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537411"/>
            <a:ext cx="2377440" cy="3109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4368" y="1548384"/>
            <a:ext cx="5742432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77568"/>
            <a:ext cx="3785616" cy="1162355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77568"/>
            <a:ext cx="54864" cy="1162355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1987296"/>
            <a:ext cx="1059972" cy="9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5.2°C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773204" y="1987296"/>
            <a:ext cx="2305020" cy="48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Peak heat gap · versus city median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36592" y="1877568"/>
            <a:ext cx="3950208" cy="1162355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6592" y="1877568"/>
            <a:ext cx="54864" cy="1162355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01184" y="1987296"/>
            <a:ext cx="1106058" cy="9428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098682" y="1987296"/>
            <a:ext cx="2423526" cy="48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Priority blocks · high exposure + vulnerability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180207"/>
            <a:ext cx="2468880" cy="701421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80207"/>
            <a:ext cx="54864" cy="701421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289935"/>
            <a:ext cx="691286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38%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404518" y="3289935"/>
            <a:ext cx="1356970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 canopy · below target coverage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Evidence Plate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11/64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small geography carries a disproportionate share of the risk.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Permanent shade creates durable value; rapid cooling buys learning speed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200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complementary intervention postures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54838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16380"/>
            <a:ext cx="777240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77568"/>
            <a:ext cx="3950208" cy="1750771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77568"/>
            <a:ext cx="64008" cy="1750771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" y="2449678"/>
            <a:ext cx="1088136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durable shade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801368" y="2341474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Tree and canopy corridors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Higher setup cost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Long-lived neighborhood benefit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736592" y="1877568"/>
            <a:ext cx="3950208" cy="1750771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6592" y="1877568"/>
            <a:ext cx="64008" cy="1750771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82896" y="2449678"/>
            <a:ext cx="1088136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 rapid cooling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2419198"/>
            <a:ext cx="24597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Cool roofs and misting stops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Fast deployment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Shorter asset life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1938528" y="3847186"/>
            <a:ext cx="5266944" cy="765962"/>
          </a:xfrm>
          <a:prstGeom prst="rect">
            <a:avLst/>
          </a:prstGeom>
          <a:solidFill>
            <a:srgbClr val="0B2545"/>
          </a:solidFill>
          <a:ln w="8255">
            <a:solidFill>
              <a:srgbClr val="C930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029968" y="3995471"/>
            <a:ext cx="5084064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Pair one durable corridor with two rapid-cooling test blocks.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Evidence Plate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12/64</a:t>
            </a:r>
            <a:endParaRPr lang="en-US" sz="8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combined intervention is expected to close most of the heat gap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200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Modeled peak surface-temperature reduction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539240"/>
            <a:ext cx="4480560" cy="27432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65776" y="1548384"/>
            <a:ext cx="3621024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1877568"/>
            <a:ext cx="6912864" cy="1969618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graphicFrame>
        <p:nvGraphicFramePr>
          <p:cNvPr id="13" name="Chart 0" descr=""/>
          <p:cNvGraphicFramePr/>
          <p:nvPr/>
        </p:nvGraphicFramePr>
        <p:xfrm>
          <a:off x="1225296" y="1969008"/>
          <a:ext cx="6693408" cy="178673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4066032"/>
            <a:ext cx="8229600" cy="54711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169918"/>
            <a:ext cx="8046720" cy="33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Synthetic planning model for release demonstration; editable native chart.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Evidence Plate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13/64</a:t>
            </a:r>
            <a:endParaRPr lang="en-US" sz="8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workstream has an owner, proof signal, and decision date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200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Editable 90-day delivery ledger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539240"/>
            <a:ext cx="4183380" cy="27432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68596" y="1548384"/>
            <a:ext cx="3918204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42617"/>
          <a:ext cx="8229600" cy="1723415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Workstream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Owner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Proof signal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Decision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Baseline sensors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Climate lab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14 blocks live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14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Shade corridor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Public works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2°C reduction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60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Cool-roof cohort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Housing team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3°C reduction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60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Resident pulse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Community team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Comfort improves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75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1877568"/>
            <a:ext cx="8229600" cy="300914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1969008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 INDEX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2697480" y="1969008"/>
            <a:ext cx="5879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rows  |  Workstream · Owner · Proof signal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" y="4257523"/>
            <a:ext cx="8229600" cy="355625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4257523"/>
            <a:ext cx="64008" cy="355625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" y="4330675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110" kern="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READOUT</a:t>
            </a:r>
            <a:endParaRPr lang="en-US" sz="820" dirty="0"/>
          </a:p>
        </p:txBody>
      </p:sp>
      <p:sp>
        <p:nvSpPr>
          <p:cNvPr id="19" name="Text 16"/>
          <p:cNvSpPr txBox="1"/>
          <p:nvPr/>
        </p:nvSpPr>
        <p:spPr>
          <a:xfrm>
            <a:off x="1755648" y="4312387"/>
            <a:ext cx="6748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only interventions that improve both measured heat and resident comfort.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Evidence Plate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14/64</a:t>
            </a:r>
            <a:endParaRPr lang="en-US" sz="8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Authorize the pilot with four explicit conditions for scale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200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conditions and accountability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50292"/>
            <a:ext cx="8229600" cy="20117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70409"/>
            <a:ext cx="8229600" cy="82296"/>
          </a:xfrm>
          <a:prstGeom prst="rect">
            <a:avLst/>
          </a:prstGeom>
          <a:solidFill>
            <a:srgbClr val="D1D5DB">
              <a:alpha val="26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548384"/>
            <a:ext cx="8229600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77568"/>
            <a:ext cx="2551176" cy="1231011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877568"/>
            <a:ext cx="64008" cy="1231011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05456" y="2033016"/>
            <a:ext cx="347472" cy="32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2033016"/>
            <a:ext cx="1819656" cy="32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Proceed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2444519"/>
            <a:ext cx="2240280" cy="37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 fourteen-block baseline and three intervention cohorts.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6412" y="1877568"/>
            <a:ext cx="2551176" cy="1231011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6412" y="1877568"/>
            <a:ext cx="64008" cy="1231011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4668" y="2033016"/>
            <a:ext cx="347472" cy="32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451860" y="2033016"/>
            <a:ext cx="1819656" cy="32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Protect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451860" y="2444519"/>
            <a:ext cx="2240280" cy="37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Prioritize vulnerable residents and public-space access.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35624" y="1877568"/>
            <a:ext cx="2551176" cy="1231011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35624" y="1877568"/>
            <a:ext cx="64008" cy="1231011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2033016"/>
            <a:ext cx="347472" cy="32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291072" y="2033016"/>
            <a:ext cx="1819656" cy="32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291072" y="2444519"/>
            <a:ext cx="2240280" cy="37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Track temperature, comfort, uptime, and maintenance burden.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938528" y="3327425"/>
            <a:ext cx="5266944" cy="492404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8528" y="3327425"/>
            <a:ext cx="64008" cy="4924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093976" y="342732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Stop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3520440" y="3373095"/>
            <a:ext cx="3529584" cy="4010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not scale an intervention that misses both proof thresholds.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938528" y="4011320"/>
            <a:ext cx="5266944" cy="601828"/>
          </a:xfrm>
          <a:prstGeom prst="rect">
            <a:avLst/>
          </a:prstGeom>
          <a:solidFill>
            <a:srgbClr val="0B2545"/>
          </a:solidFill>
          <a:ln w="8255">
            <a:solidFill>
              <a:srgbClr val="0B254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048256" y="4156786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Decision: release pilot funds now; return at day 90 with scale evidence.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Evidence Plate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15/64</a:t>
            </a:r>
            <a:endParaRPr lang="en-US" sz="8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Methods and sources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Illustrative evidence register for the editable gallery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31518"/>
          <a:ext cx="8229600" cy="1938528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ID</a:t>
                      </a:r>
                      <a:endParaRPr lang="en-US" sz="8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Source</a:t>
                      </a:r>
                      <a:endParaRPr lang="en-US" sz="8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Use</a:t>
                      </a:r>
                      <a:endParaRPr lang="en-US" sz="8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S1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sensor baseline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Heat-gap framing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S2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canopy inventory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Target blocks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S3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intervention model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Scenario comparison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S4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resident pulse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Comfort threshold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1382268"/>
            <a:ext cx="8229600" cy="323088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1473708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 INDEX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2697480" y="1473708"/>
            <a:ext cx="5879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sources  |  ID · Source · Use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57200" y="4096207"/>
            <a:ext cx="8229600" cy="420014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4169359"/>
            <a:ext cx="1700784" cy="2737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NOTES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2359152" y="4169359"/>
            <a:ext cx="6217920" cy="2737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values are synthetic and included only to demonstrate source-aware slide structure.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Evidence Plate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16/64</a:t>
            </a:r>
            <a:endParaRPr lang="en-US" sz="8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32120" y="475488"/>
            <a:ext cx="0" cy="4005072"/>
          </a:xfrm>
          <a:prstGeom prst="line">
            <a:avLst/>
          </a:prstGeom>
          <a:noFill/>
          <a:ln w="6350">
            <a:solidFill>
              <a:srgbClr val="D5DEE8">
                <a:alpha val="8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16168" y="475488"/>
            <a:ext cx="0" cy="4005072"/>
          </a:xfrm>
          <a:prstGeom prst="line">
            <a:avLst/>
          </a:prstGeom>
          <a:noFill/>
          <a:ln w="6350">
            <a:solidFill>
              <a:srgbClr val="D5DEE8">
                <a:alpha val="8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0216" y="475488"/>
            <a:ext cx="0" cy="4005072"/>
          </a:xfrm>
          <a:prstGeom prst="line">
            <a:avLst/>
          </a:prstGeom>
          <a:noFill/>
          <a:ln w="6350">
            <a:solidFill>
              <a:srgbClr val="D5DEE8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84264" y="475488"/>
            <a:ext cx="0" cy="4005072"/>
          </a:xfrm>
          <a:prstGeom prst="line">
            <a:avLst/>
          </a:prstGeom>
          <a:noFill/>
          <a:ln w="6350">
            <a:solidFill>
              <a:srgbClr val="D5DEE8">
                <a:alpha val="8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68312" y="475488"/>
            <a:ext cx="0" cy="4005072"/>
          </a:xfrm>
          <a:prstGeom prst="line">
            <a:avLst/>
          </a:prstGeom>
          <a:noFill/>
          <a:ln w="6350">
            <a:solidFill>
              <a:srgbClr val="D5DEE8">
                <a:alpha val="8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75488"/>
            <a:ext cx="0" cy="4005072"/>
          </a:xfrm>
          <a:prstGeom prst="line">
            <a:avLst/>
          </a:prstGeom>
          <a:noFill/>
          <a:ln w="6350">
            <a:solidFill>
              <a:srgbClr val="D5DEE8">
                <a:alpha val="8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36408" y="475488"/>
            <a:ext cx="0" cy="4005072"/>
          </a:xfrm>
          <a:prstGeom prst="line">
            <a:avLst/>
          </a:prstGeom>
          <a:noFill/>
          <a:ln w="6350">
            <a:solidFill>
              <a:srgbClr val="D5DEE8">
                <a:alpha val="8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11112" y="2084832"/>
            <a:ext cx="768096" cy="768096"/>
          </a:xfrm>
          <a:prstGeom prst="ellipse">
            <a:avLst/>
          </a:prstGeom>
          <a:solidFill>
            <a:srgbClr val="1493A4">
              <a:alpha val="0"/>
            </a:srgbClr>
          </a:solidFill>
          <a:ln w="11430">
            <a:solidFill>
              <a:srgbClr val="1493A4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0216" y="1773936"/>
            <a:ext cx="1389888" cy="1389888"/>
          </a:xfrm>
          <a:prstGeom prst="ellipse">
            <a:avLst/>
          </a:prstGeom>
          <a:solidFill>
            <a:srgbClr val="1493A4">
              <a:alpha val="0"/>
            </a:srgbClr>
          </a:solidFill>
          <a:ln w="11430">
            <a:solidFill>
              <a:srgbClr val="F59E0B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71032" y="1444752"/>
            <a:ext cx="2048256" cy="2048256"/>
          </a:xfrm>
          <a:prstGeom prst="ellipse">
            <a:avLst/>
          </a:prstGeom>
          <a:solidFill>
            <a:srgbClr val="1493A4">
              <a:alpha val="0"/>
            </a:srgbClr>
          </a:solidFill>
          <a:ln w="11430">
            <a:solidFill>
              <a:srgbClr val="1493A4">
                <a:alpha val="32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6583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80" kern="0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POLICY BRIEF</a:t>
            </a:r>
            <a:endParaRPr lang="en-US" sz="84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005840"/>
            <a:ext cx="67665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Cooling the Last 5 Degrees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868680" cy="54864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889504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neighborhood heat-resilience pilot designed for measurable relief, accountable delivery, and a 90-day decision.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Care Pathway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49808"/>
            <a:ext cx="32004" cy="5285232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" y="1243584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" y="2596896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" y="3950208"/>
            <a:ext cx="146304" cy="146304"/>
          </a:xfrm>
          <a:prstGeom prst="ellipse">
            <a:avLst/>
          </a:prstGeom>
          <a:solidFill>
            <a:srgbClr val="F59E0B"/>
          </a:solidFill>
          <a:ln w="10795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" y="5303520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24544" y="969264"/>
            <a:ext cx="32004" cy="4791456"/>
          </a:xfrm>
          <a:prstGeom prst="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74980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CARE PATHWAY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1371600"/>
            <a:ext cx="5669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exposure to action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907792"/>
            <a:ext cx="5413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Locate the hottest blocks, test three interventions, then scale only what improves lived conditions.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84848" y="1188720"/>
            <a:ext cx="1700784" cy="3273552"/>
          </a:xfrm>
          <a:prstGeom prst="rect">
            <a:avLst/>
          </a:prstGeom>
          <a:solidFill>
            <a:srgbClr val="FFFFFF"/>
          </a:solidFill>
          <a:ln w="8255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04304" y="148132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WINDOW</a:t>
            </a:r>
            <a:endParaRPr lang="en-US" sz="720" dirty="0"/>
          </a:p>
        </p:txBody>
      </p:sp>
      <p:sp>
        <p:nvSpPr>
          <p:cNvPr id="13" name="Text 11"/>
          <p:cNvSpPr txBox="1"/>
          <p:nvPr/>
        </p:nvSpPr>
        <p:spPr>
          <a:xfrm>
            <a:off x="7004304" y="1993392"/>
            <a:ext cx="1261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967728" y="3163824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benefit  |  risk  |  owner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49808"/>
            <a:ext cx="32004" cy="5285232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" y="1243584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" y="2596896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" y="3950208"/>
            <a:ext cx="146304" cy="146304"/>
          </a:xfrm>
          <a:prstGeom prst="ellipse">
            <a:avLst/>
          </a:prstGeom>
          <a:solidFill>
            <a:srgbClr val="F59E0B"/>
          </a:solidFill>
          <a:ln w="10795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" y="5303520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24544" y="969264"/>
            <a:ext cx="32004" cy="4791456"/>
          </a:xfrm>
          <a:prstGeom prst="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14538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4538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Heat exposure is concentrated enough to make a targeted pilot testable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evidence anchors before intervention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81797"/>
          </a:xfrm>
          <a:prstGeom prst="rect">
            <a:avLst/>
          </a:prstGeom>
          <a:solidFill>
            <a:srgbClr val="FFFFFF"/>
          </a:solidFill>
          <a:ln w="7620">
            <a:solidFill>
              <a:srgbClr val="D5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691640"/>
            <a:ext cx="54864" cy="481797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18013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5.2°C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130552" y="1801368"/>
            <a:ext cx="6391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Peak heat gap · versus city median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348636"/>
            <a:ext cx="3867912" cy="15329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48636"/>
            <a:ext cx="54864" cy="1532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2458364"/>
            <a:ext cx="1083015" cy="131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796247" y="2458364"/>
            <a:ext cx="2364273" cy="48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Priority blocks · high exposure + vulnerability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18888" y="2348636"/>
            <a:ext cx="3867912" cy="1532992"/>
          </a:xfrm>
          <a:prstGeom prst="rect">
            <a:avLst/>
          </a:prstGeom>
          <a:solidFill>
            <a:srgbClr val="FFFFFF"/>
          </a:solidFill>
          <a:ln w="7620">
            <a:solidFill>
              <a:srgbClr val="D5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18888" y="2348636"/>
            <a:ext cx="54864" cy="1532992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83480" y="2458364"/>
            <a:ext cx="1083015" cy="131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38%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157935" y="2458364"/>
            <a:ext cx="2364273" cy="48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 canopy · below target coverage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Care Pathway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19/64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D5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small geography carries a disproportionate share of the risk.</a:t>
            </a:r>
            <a:endParaRPr lang="en-US" sz="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49808"/>
            <a:ext cx="32004" cy="5285232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" y="1243584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" y="2596896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" y="3950208"/>
            <a:ext cx="146304" cy="146304"/>
          </a:xfrm>
          <a:prstGeom prst="ellipse">
            <a:avLst/>
          </a:prstGeom>
          <a:solidFill>
            <a:srgbClr val="F59E0B"/>
          </a:solidFill>
          <a:ln w="10795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" y="5303520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24544" y="969264"/>
            <a:ext cx="32004" cy="4791456"/>
          </a:xfrm>
          <a:prstGeom prst="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14538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4538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Permanent shade creates durable value; rapid cooling buys learning speed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complementary intervention postures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1022528"/>
          </a:xfrm>
          <a:prstGeom prst="rect">
            <a:avLst/>
          </a:prstGeom>
          <a:solidFill>
            <a:srgbClr val="FFFFFF"/>
          </a:solidFill>
          <a:ln w="8255">
            <a:solidFill>
              <a:srgbClr val="D5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691640"/>
            <a:ext cx="64008" cy="1022528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" y="1899628"/>
            <a:ext cx="2093976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durable shade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07208" y="1869148"/>
            <a:ext cx="57332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Tree and canopy corridors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Higher setup cost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Long-lived neighborhood benefit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57200" y="2947888"/>
            <a:ext cx="8229600" cy="1022528"/>
          </a:xfrm>
          <a:prstGeom prst="rect">
            <a:avLst/>
          </a:prstGeom>
          <a:solidFill>
            <a:srgbClr val="FFFFFF"/>
          </a:solidFill>
          <a:ln w="8255">
            <a:solidFill>
              <a:srgbClr val="D5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47888"/>
            <a:ext cx="64008" cy="10225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" y="3155876"/>
            <a:ext cx="2093976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 rapid cooling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807208" y="3125396"/>
            <a:ext cx="57332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Cool roofs and misting stops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Fast deployment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Shorter asset life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407408" y="4145707"/>
            <a:ext cx="4279392" cy="467441"/>
          </a:xfrm>
          <a:prstGeom prst="rect">
            <a:avLst/>
          </a:prstGeom>
          <a:solidFill>
            <a:srgbClr val="071E3A"/>
          </a:solidFill>
          <a:ln w="8255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98848" y="4218859"/>
            <a:ext cx="4096512" cy="32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Pair one durable corridor with two rapid-cooling test blocks.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Care Pathway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20/64</a:t>
            </a:r>
            <a:endParaRPr lang="en-US" sz="8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49808"/>
            <a:ext cx="32004" cy="5285232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" y="1243584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" y="2596896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" y="3950208"/>
            <a:ext cx="146304" cy="146304"/>
          </a:xfrm>
          <a:prstGeom prst="ellipse">
            <a:avLst/>
          </a:prstGeom>
          <a:solidFill>
            <a:srgbClr val="F59E0B"/>
          </a:solidFill>
          <a:ln w="10795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" y="5303520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24544" y="969264"/>
            <a:ext cx="32004" cy="4791456"/>
          </a:xfrm>
          <a:prstGeom prst="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14538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4538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combined intervention is expected to close most of the heat gap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Modeled peak surface-temperature reduction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09662"/>
            <a:ext cx="5431536" cy="2103486"/>
          </a:xfrm>
          <a:prstGeom prst="rect">
            <a:avLst/>
          </a:prstGeom>
          <a:solidFill>
            <a:srgbClr val="FFFFFF"/>
          </a:solidFill>
          <a:ln w="7620">
            <a:solidFill>
              <a:srgbClr val="D5DEE8"/>
            </a:solidFill>
            <a:prstDash val="solid"/>
          </a:ln>
        </p:spPr>
      </p:sp>
      <p:graphicFrame>
        <p:nvGraphicFramePr>
          <p:cNvPr id="13" name="Chart 0" descr=""/>
          <p:cNvGraphicFramePr/>
          <p:nvPr/>
        </p:nvGraphicFramePr>
        <p:xfrm>
          <a:off x="566928" y="2601102"/>
          <a:ext cx="5212080" cy="192060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1691640"/>
            <a:ext cx="8229600" cy="584302"/>
          </a:xfrm>
          <a:prstGeom prst="rect">
            <a:avLst/>
          </a:prstGeom>
          <a:solidFill>
            <a:srgbClr val="FFFFFF"/>
          </a:solidFill>
          <a:ln w="6985">
            <a:solidFill>
              <a:srgbClr val="D5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1819199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READOUT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1225296" y="1783080"/>
            <a:ext cx="713232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4.1°C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2029968" y="1828343"/>
            <a:ext cx="6547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Combined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6382512" y="2509662"/>
            <a:ext cx="2304288" cy="481935"/>
          </a:xfrm>
          <a:prstGeom prst="rect">
            <a:avLst/>
          </a:prstGeom>
          <a:solidFill>
            <a:srgbClr val="FFFFFF"/>
          </a:solidFill>
          <a:ln w="6985">
            <a:solidFill>
              <a:srgbClr val="D5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82512" y="2509662"/>
            <a:ext cx="50292" cy="481935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28816" y="2601102"/>
            <a:ext cx="737372" cy="299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4.1°C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357628" y="2601102"/>
            <a:ext cx="1182868" cy="299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Combined · modeled reduction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382512" y="3137901"/>
            <a:ext cx="2304288" cy="481935"/>
          </a:xfrm>
          <a:prstGeom prst="rect">
            <a:avLst/>
          </a:prstGeom>
          <a:solidFill>
            <a:srgbClr val="FFFFFF"/>
          </a:solidFill>
          <a:ln w="6985">
            <a:solidFill>
              <a:srgbClr val="D5D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82512" y="3137901"/>
            <a:ext cx="50292" cy="48193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28816" y="3229341"/>
            <a:ext cx="737372" cy="299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91%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357628" y="3229341"/>
            <a:ext cx="1182868" cy="299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target · before field correction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382512" y="3736696"/>
            <a:ext cx="2304288" cy="8764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73952" y="3880866"/>
            <a:ext cx="2121408" cy="588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Synthetic planning model for release demonstration; editable native chart.</a:t>
            </a:r>
            <a:endParaRPr lang="en-US" sz="820" dirty="0"/>
          </a:p>
        </p:txBody>
      </p:sp>
      <p:sp>
        <p:nvSpPr>
          <p:cNvPr id="28" name="Shape 2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Care Pathway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21/64</a:t>
            </a:r>
            <a:endParaRPr lang="en-US" sz="8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49808"/>
            <a:ext cx="32004" cy="5285232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" y="1243584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" y="2596896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" y="3950208"/>
            <a:ext cx="146304" cy="146304"/>
          </a:xfrm>
          <a:prstGeom prst="ellipse">
            <a:avLst/>
          </a:prstGeom>
          <a:solidFill>
            <a:srgbClr val="F59E0B"/>
          </a:solidFill>
          <a:ln w="10795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" y="5303520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24544" y="969264"/>
            <a:ext cx="32004" cy="4791456"/>
          </a:xfrm>
          <a:prstGeom prst="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14538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4538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workstream has an owner, proof signal, and decision date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Editable 90-day delivery ledger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67712" y="1691640"/>
          <a:ext cx="6419088" cy="2103486"/>
        </p:xfrm>
        <a:graphic>
          <a:graphicData uri="http://schemas.openxmlformats.org/drawingml/2006/table">
            <a:tbl>
              <a:tblPr/>
              <a:tblGrid>
                <a:gridCol w="1604772"/>
                <a:gridCol w="1604772"/>
                <a:gridCol w="1604772"/>
                <a:gridCol w="1604772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Workstream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Owner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Proof signal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Decision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93A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Baseline sensors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Climate lab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14 blocks live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14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Shade corridor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Public works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2°C reduction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60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Cool-roof cohort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Housing team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3°C reduction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60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Resident pulse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Community team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Comfort improves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75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1691640"/>
            <a:ext cx="1399032" cy="2921508"/>
          </a:xfrm>
          <a:prstGeom prst="rect">
            <a:avLst/>
          </a:prstGeom>
          <a:solidFill>
            <a:srgbClr val="FFFFFF"/>
          </a:solidFill>
          <a:ln w="6985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1783080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 INDEX</a:t>
            </a:r>
            <a:endParaRPr lang="en-US" sz="92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2112264"/>
            <a:ext cx="1179576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rows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Workstream · Owner · Proof signal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267712" y="4028846"/>
            <a:ext cx="6419088" cy="584302"/>
          </a:xfrm>
          <a:prstGeom prst="rect">
            <a:avLst/>
          </a:prstGeom>
          <a:solidFill>
            <a:srgbClr val="FFFFFF"/>
          </a:solidFill>
          <a:ln w="8255">
            <a:solidFill>
              <a:srgbClr val="D5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267712" y="4028846"/>
            <a:ext cx="64008" cy="58430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432304" y="4101998"/>
            <a:ext cx="1078992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110" kern="0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READOUT</a:t>
            </a:r>
            <a:endParaRPr lang="en-US" sz="82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4083710"/>
            <a:ext cx="4937760" cy="4745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only interventions that improve both measured heat and resident comfort.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Care Pathway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22/64</a:t>
            </a:r>
            <a:endParaRPr lang="en-US" sz="8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49808"/>
            <a:ext cx="32004" cy="5285232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" y="1243584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" y="2596896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" y="3950208"/>
            <a:ext cx="146304" cy="146304"/>
          </a:xfrm>
          <a:prstGeom prst="ellipse">
            <a:avLst/>
          </a:prstGeom>
          <a:solidFill>
            <a:srgbClr val="F59E0B"/>
          </a:solidFill>
          <a:ln w="10795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" y="5303520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24544" y="969264"/>
            <a:ext cx="32004" cy="4791456"/>
          </a:xfrm>
          <a:prstGeom prst="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14538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4538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Authorize the pilot with four explicit conditions for scale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conditions and accountability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1810512" cy="1928195"/>
          </a:xfrm>
          <a:prstGeom prst="rect">
            <a:avLst/>
          </a:prstGeom>
          <a:solidFill>
            <a:srgbClr val="FFFFFF"/>
          </a:solidFill>
          <a:ln w="8255">
            <a:solidFill>
              <a:srgbClr val="D5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691640"/>
            <a:ext cx="64008" cy="1928195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2582" y="1847088"/>
            <a:ext cx="289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12648" y="1847088"/>
            <a:ext cx="11367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Proceed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2377440"/>
            <a:ext cx="1499616" cy="51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 fourteen-block baseline and three intervention cohorts.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96896" y="1691640"/>
            <a:ext cx="1810512" cy="1928195"/>
          </a:xfrm>
          <a:prstGeom prst="rect">
            <a:avLst/>
          </a:prstGeom>
          <a:solidFill>
            <a:srgbClr val="FFFFFF"/>
          </a:solidFill>
          <a:ln w="8255">
            <a:solidFill>
              <a:srgbClr val="D5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96896" y="1691640"/>
            <a:ext cx="64008" cy="192819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62278" y="1847088"/>
            <a:ext cx="289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752344" y="1847088"/>
            <a:ext cx="11367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Protect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752344" y="2377440"/>
            <a:ext cx="1499616" cy="51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Prioritize vulnerable residents and public-space access.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36592" y="1691640"/>
            <a:ext cx="1810512" cy="1928195"/>
          </a:xfrm>
          <a:prstGeom prst="rect">
            <a:avLst/>
          </a:prstGeom>
          <a:solidFill>
            <a:srgbClr val="FFFFFF"/>
          </a:solidFill>
          <a:ln w="8255">
            <a:solidFill>
              <a:srgbClr val="D5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6592" y="1691640"/>
            <a:ext cx="64008" cy="1928195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01974" y="1847088"/>
            <a:ext cx="289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1847088"/>
            <a:ext cx="11367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2377440"/>
            <a:ext cx="1499616" cy="51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Track temperature, comfort, uptime, and maintenance burden.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76288" y="1691640"/>
            <a:ext cx="1810512" cy="1928195"/>
          </a:xfrm>
          <a:prstGeom prst="rect">
            <a:avLst/>
          </a:prstGeom>
          <a:solidFill>
            <a:srgbClr val="FFFFFF"/>
          </a:solidFill>
          <a:ln w="8255">
            <a:solidFill>
              <a:srgbClr val="D5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76288" y="1691640"/>
            <a:ext cx="64008" cy="192819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41670" y="1847088"/>
            <a:ext cx="289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031736" y="1847088"/>
            <a:ext cx="11367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Stop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031736" y="2377440"/>
            <a:ext cx="1499616" cy="51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not scale an intervention that misses both proof thresholds.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96896" y="3911986"/>
            <a:ext cx="6089904" cy="584302"/>
          </a:xfrm>
          <a:prstGeom prst="rect">
            <a:avLst/>
          </a:prstGeom>
          <a:solidFill>
            <a:srgbClr val="071E3A"/>
          </a:solidFill>
          <a:ln w="8255">
            <a:solidFill>
              <a:srgbClr val="1493A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706624" y="4048689"/>
            <a:ext cx="5870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Decision: release pilot funds now; return at day 90 with scale evidence.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Care Pathway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23/64</a:t>
            </a:r>
            <a:endParaRPr lang="en-US" sz="8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49808"/>
            <a:ext cx="32004" cy="5285232"/>
          </a:xfrm>
          <a:prstGeom prst="rect">
            <a:avLst/>
          </a:prstGeom>
          <a:solidFill>
            <a:srgbClr val="1493A4"/>
          </a:solidFill>
          <a:ln w="12700">
            <a:solidFill>
              <a:srgbClr val="1493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" y="1243584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" y="2596896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" y="3950208"/>
            <a:ext cx="146304" cy="146304"/>
          </a:xfrm>
          <a:prstGeom prst="ellipse">
            <a:avLst/>
          </a:prstGeom>
          <a:solidFill>
            <a:srgbClr val="F59E0B"/>
          </a:solidFill>
          <a:ln w="10795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" y="5303520"/>
            <a:ext cx="146304" cy="146304"/>
          </a:xfrm>
          <a:prstGeom prst="ellipse">
            <a:avLst/>
          </a:prstGeom>
          <a:solidFill>
            <a:srgbClr val="F4F8FB"/>
          </a:solidFill>
          <a:ln w="10795">
            <a:solidFill>
              <a:srgbClr val="1493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24544" y="969264"/>
            <a:ext cx="32004" cy="4791456"/>
          </a:xfrm>
          <a:prstGeom prst="rect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71E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1493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Methods and sources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Illustrative evidence register for the editable gallery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67712" y="1272540"/>
          <a:ext cx="6419088" cy="2271613"/>
        </p:xfrm>
        <a:graphic>
          <a:graphicData uri="http://schemas.openxmlformats.org/drawingml/2006/table">
            <a:tbl>
              <a:tblPr/>
              <a:tblGrid>
                <a:gridCol w="2139696"/>
                <a:gridCol w="2139696"/>
                <a:gridCol w="2139696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ID</a:t>
                      </a:r>
                      <a:endParaRPr lang="en-US" sz="8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Source</a:t>
                      </a:r>
                      <a:endParaRPr lang="en-US" sz="8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Use</a:t>
                      </a:r>
                      <a:endParaRPr lang="en-US" sz="8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E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S1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sensor baseline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Heat-gap framing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S2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canopy inventory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Target blocks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S3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intervention model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Scenario comparison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S4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resident pulse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F172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Comfort threshold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1272540"/>
            <a:ext cx="1399032" cy="3340608"/>
          </a:xfrm>
          <a:prstGeom prst="rect">
            <a:avLst/>
          </a:prstGeom>
          <a:solidFill>
            <a:srgbClr val="FFFFFF"/>
          </a:solidFill>
          <a:ln w="6985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1363980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 INDEX</a:t>
            </a:r>
            <a:endParaRPr lang="en-US" sz="92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1693164"/>
            <a:ext cx="1179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sources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 · Source · Use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267712" y="3811402"/>
            <a:ext cx="6419088" cy="801746"/>
          </a:xfrm>
          <a:prstGeom prst="rect">
            <a:avLst/>
          </a:prstGeom>
          <a:solidFill>
            <a:srgbClr val="FFFFFF"/>
          </a:solidFill>
          <a:ln w="6985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377440" y="3884554"/>
            <a:ext cx="1302471" cy="6554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93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NOTES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3771351" y="3884554"/>
            <a:ext cx="4805721" cy="6554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values are synthetic and included only to demonstrate source-aware slide structure.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Care Pathway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24/64</a:t>
            </a:r>
            <a:endParaRPr lang="en-US" sz="8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00" cy="16459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960120" cy="50292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180" kern="0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EDITORIAL FIELD NOTE</a:t>
            </a:r>
            <a:endParaRPr lang="en-US" sz="82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42416"/>
            <a:ext cx="5559552" cy="1642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Cooling the Last 5 Degrees</a:t>
            </a:r>
            <a:endParaRPr lang="en-US" sz="4300" dirty="0"/>
          </a:p>
        </p:txBody>
      </p:sp>
      <p:sp>
        <p:nvSpPr>
          <p:cNvPr id="6" name="Shape 4"/>
          <p:cNvSpPr/>
          <p:nvPr/>
        </p:nvSpPr>
        <p:spPr>
          <a:xfrm>
            <a:off x="6473952" y="1005840"/>
            <a:ext cx="16459" cy="43159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41948" y="1005840"/>
            <a:ext cx="80467" cy="749808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84848" y="2761488"/>
            <a:ext cx="19019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neighborhood heat-resilience pilot designed for measurable relief, accountable delivery, and a 90-day decision.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84848" y="4078224"/>
            <a:ext cx="1901952" cy="16459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84848" y="4462272"/>
            <a:ext cx="1645920" cy="1645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84848" y="4846320"/>
            <a:ext cx="1389888" cy="16459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5321808"/>
            <a:ext cx="5596128" cy="16459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Editorial Spread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09728"/>
            <a:ext cx="8266176" cy="128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64592"/>
            <a:ext cx="1225296" cy="25603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50976"/>
            <a:ext cx="16459" cy="52303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0768" y="4722876"/>
            <a:ext cx="274320" cy="16459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65836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D446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CHAPTER</a:t>
            </a:r>
            <a:endParaRPr lang="en-US" sz="74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371600"/>
            <a:ext cx="5321808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exposure to action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6254496" y="1188720"/>
            <a:ext cx="0" cy="4315968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37376" y="1444752"/>
            <a:ext cx="166420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Locate the hottest blocks, test three interventions, then scale only what improves lived conditions.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54496" y="4096512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Scene, context, counterpoint, interpretation.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09728"/>
            <a:ext cx="8266176" cy="128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64592"/>
            <a:ext cx="1225296" cy="25603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50976"/>
            <a:ext cx="16459" cy="52303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0768" y="4722876"/>
            <a:ext cx="274320" cy="16459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990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Heat exposure is concentrated enough to make a targeted pilot testable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evidence anchors before intervention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4690872" cy="2189988"/>
          </a:xfrm>
          <a:prstGeom prst="rect">
            <a:avLst/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54864" cy="2189988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1801368"/>
            <a:ext cx="1313444" cy="19705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5.2°C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026676" y="1801368"/>
            <a:ext cx="2956804" cy="314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Peak heat gap · versus city median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24144" y="1691640"/>
            <a:ext cx="2962656" cy="613197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24144" y="1691640"/>
            <a:ext cx="54864" cy="613197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88736" y="1801368"/>
            <a:ext cx="829544" cy="3937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809720" y="1801368"/>
            <a:ext cx="1712488" cy="39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blocks · high exposure + vulnerability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24144" y="2480036"/>
            <a:ext cx="2962656" cy="613197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24144" y="2480036"/>
            <a:ext cx="54864" cy="613197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88736" y="2589764"/>
            <a:ext cx="829544" cy="3937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38%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809720" y="2589764"/>
            <a:ext cx="1712488" cy="39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canopy · below target coverage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Editorial Spread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27/64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4210812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26567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small geography carries a disproportionate share of the risk.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09728"/>
            <a:ext cx="8266176" cy="128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64592"/>
            <a:ext cx="1225296" cy="25603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50976"/>
            <a:ext cx="16459" cy="52303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0768" y="4722876"/>
            <a:ext cx="274320" cy="16459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990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Permanent shade creates durable value; rapid cooling buys learning speed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complementary intervention postures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4526280" cy="2103486"/>
          </a:xfrm>
          <a:prstGeom prst="rect">
            <a:avLst/>
          </a:prstGeom>
          <a:solidFill>
            <a:srgbClr val="FFFFFF"/>
          </a:solidFill>
          <a:ln w="825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64008" cy="2103486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" y="2440107"/>
            <a:ext cx="1121054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durable shade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834286" y="2409627"/>
            <a:ext cx="30028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Tree and canopy corridors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Higher setup cost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Long-lived neighborhood benefit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5477256" y="2159081"/>
            <a:ext cx="3209544" cy="1636044"/>
          </a:xfrm>
          <a:prstGeom prst="rect">
            <a:avLst/>
          </a:prstGeom>
          <a:solidFill>
            <a:srgbClr val="FFFFFF"/>
          </a:solidFill>
          <a:ln w="825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77256" y="2159081"/>
            <a:ext cx="64008" cy="16360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23560" y="2673828"/>
            <a:ext cx="1088136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rapid cooling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21424" y="2565624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Cool roofs and misting stops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Fast deployment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Shorter asset life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477256" y="4028846"/>
            <a:ext cx="3209544" cy="584302"/>
          </a:xfrm>
          <a:prstGeom prst="rect">
            <a:avLst/>
          </a:prstGeom>
          <a:solidFill>
            <a:srgbClr val="000000"/>
          </a:solidFill>
          <a:ln w="8255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68696" y="4123766"/>
            <a:ext cx="3026664" cy="39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 one durable corridor with two rapid-cooling test blocks.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Editorial Spread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28/64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09728"/>
            <a:ext cx="8266176" cy="128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64592"/>
            <a:ext cx="1225296" cy="25603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50976"/>
            <a:ext cx="16459" cy="52303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0768" y="4722876"/>
            <a:ext cx="274320" cy="16459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990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combined intervention is expected to close most of the heat gap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Modeled peak surface-temperature reduction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5596128" cy="2220346"/>
          </a:xfrm>
          <a:prstGeom prst="rect">
            <a:avLst/>
          </a:prstGeom>
          <a:solidFill>
            <a:srgbClr val="FFFFFF"/>
          </a:solidFill>
          <a:ln w="7620">
            <a:solidFill>
              <a:srgbClr val="E5E7EB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566928" y="1783080"/>
          <a:ext cx="5376672" cy="203746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547104" y="1691640"/>
            <a:ext cx="2139696" cy="1402324"/>
          </a:xfrm>
          <a:prstGeom prst="rect">
            <a:avLst/>
          </a:prstGeom>
          <a:solidFill>
            <a:srgbClr val="FFFFFF"/>
          </a:solidFill>
          <a:ln w="698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38544" y="17830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READOUT</a:t>
            </a:r>
            <a:endParaRPr lang="en-US" sz="860" dirty="0"/>
          </a:p>
        </p:txBody>
      </p:sp>
      <p:sp>
        <p:nvSpPr>
          <p:cNvPr id="13" name="Text 10"/>
          <p:cNvSpPr txBox="1"/>
          <p:nvPr/>
        </p:nvSpPr>
        <p:spPr>
          <a:xfrm>
            <a:off x="6638544" y="214884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4.1°C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638544" y="2715768"/>
            <a:ext cx="1956816" cy="286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Combined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6547104" y="3386115"/>
            <a:ext cx="2139696" cy="540365"/>
          </a:xfrm>
          <a:prstGeom prst="rect">
            <a:avLst/>
          </a:prstGeom>
          <a:solidFill>
            <a:srgbClr val="FFFFFF"/>
          </a:solidFill>
          <a:ln w="6985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47104" y="3386115"/>
            <a:ext cx="50292" cy="540365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93408" y="3477555"/>
            <a:ext cx="684703" cy="35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4.1°C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469551" y="3477555"/>
            <a:ext cx="1070945" cy="357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Combined · modeled reduction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547104" y="4072783"/>
            <a:ext cx="2139696" cy="540365"/>
          </a:xfrm>
          <a:prstGeom prst="rect">
            <a:avLst/>
          </a:prstGeom>
          <a:solidFill>
            <a:srgbClr val="FFFFFF"/>
          </a:solidFill>
          <a:ln w="6985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47104" y="4072783"/>
            <a:ext cx="50292" cy="540365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93408" y="4164223"/>
            <a:ext cx="684703" cy="35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469551" y="4164223"/>
            <a:ext cx="1070945" cy="357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target · before field correction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Editorial Spread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29/64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09728"/>
            <a:ext cx="8266176" cy="128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64592"/>
            <a:ext cx="1225296" cy="25603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50976"/>
            <a:ext cx="16459" cy="52303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0768" y="4722876"/>
            <a:ext cx="274320" cy="16459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990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workstream has an owner, proof signal, and decision date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Editable 90-day delivery ledger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96896" y="1925361"/>
          <a:ext cx="6089904" cy="1928195"/>
        </p:xfrm>
        <a:graphic>
          <a:graphicData uri="http://schemas.openxmlformats.org/drawingml/2006/table">
            <a:tbl>
              <a:tblPr/>
              <a:tblGrid>
                <a:gridCol w="1522476"/>
                <a:gridCol w="1522476"/>
                <a:gridCol w="1522476"/>
                <a:gridCol w="1522476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Workstream</a:t>
                      </a:r>
                      <a:endParaRPr lang="en-US" sz="98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Owner</a:t>
                      </a:r>
                      <a:endParaRPr lang="en-US" sz="98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Proof signal</a:t>
                      </a:r>
                      <a:endParaRPr lang="en-US" sz="98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0A0A0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Decision</a:t>
                      </a:r>
                      <a:endParaRPr lang="en-US" sz="98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5E7E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Baseline sensors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Climate lab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14 blocks live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14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Shade corridor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Public works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2°C reduction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60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Cool-roof cohort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Housing team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3°C reduction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60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Resident pulse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Community team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Comfort improves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75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1691640"/>
            <a:ext cx="1645920" cy="2921508"/>
          </a:xfrm>
          <a:prstGeom prst="rect">
            <a:avLst/>
          </a:prstGeom>
          <a:solidFill>
            <a:srgbClr val="FFFFFF"/>
          </a:solidFill>
          <a:ln w="698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" y="178308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INDEX</a:t>
            </a:r>
            <a:endParaRPr lang="en-US" sz="92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2112264"/>
            <a:ext cx="1426464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rows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Workstream · Owner · Proof signal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36592" y="4087277"/>
            <a:ext cx="3950208" cy="525871"/>
          </a:xfrm>
          <a:prstGeom prst="rect">
            <a:avLst/>
          </a:prstGeom>
          <a:solidFill>
            <a:srgbClr val="FFFFFF"/>
          </a:solidFill>
          <a:ln w="8255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36592" y="4087277"/>
            <a:ext cx="64008" cy="52587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01184" y="4160429"/>
            <a:ext cx="786384" cy="379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110" kern="0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READOUT</a:t>
            </a:r>
            <a:endParaRPr lang="en-US" sz="820" dirty="0"/>
          </a:p>
        </p:txBody>
      </p:sp>
      <p:sp>
        <p:nvSpPr>
          <p:cNvPr id="16" name="Text 13"/>
          <p:cNvSpPr txBox="1"/>
          <p:nvPr/>
        </p:nvSpPr>
        <p:spPr>
          <a:xfrm>
            <a:off x="5742432" y="4142141"/>
            <a:ext cx="2761488" cy="4161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only interventions that improve both measured heat and resident comfort.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Editorial Spread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30/64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09728"/>
            <a:ext cx="8266176" cy="128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64592"/>
            <a:ext cx="1225296" cy="25603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50976"/>
            <a:ext cx="16459" cy="52303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0768" y="4722876"/>
            <a:ext cx="274320" cy="16459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990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Authorize the pilot with four explicit conditions for scale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conditions and accountability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4443984" cy="1051743"/>
          </a:xfrm>
          <a:prstGeom prst="rect">
            <a:avLst/>
          </a:prstGeom>
          <a:solidFill>
            <a:srgbClr val="FFFFFF"/>
          </a:solidFill>
          <a:ln w="825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64008" cy="1051743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" y="2071207"/>
            <a:ext cx="12221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Proceed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907987" y="2016978"/>
            <a:ext cx="2837749" cy="4010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 fourteen-block baseline and three intervention cohorts.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44752" y="3093964"/>
            <a:ext cx="3456432" cy="818022"/>
          </a:xfrm>
          <a:prstGeom prst="rect">
            <a:avLst/>
          </a:prstGeom>
          <a:solidFill>
            <a:srgbClr val="FFFFFF"/>
          </a:solidFill>
          <a:ln w="825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44752" y="3093964"/>
            <a:ext cx="64008" cy="81802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00200" y="3356671"/>
            <a:ext cx="9160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589398" y="3302442"/>
            <a:ext cx="2156338" cy="4010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Prioritize vulnerable residents and public-space access.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59552" y="1983791"/>
            <a:ext cx="3127248" cy="876452"/>
          </a:xfrm>
          <a:prstGeom prst="rect">
            <a:avLst/>
          </a:prstGeom>
          <a:solidFill>
            <a:srgbClr val="FFFFFF"/>
          </a:solidFill>
          <a:ln w="825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59552" y="1983791"/>
            <a:ext cx="64008" cy="876452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2139239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2139239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2523287"/>
            <a:ext cx="2816352" cy="181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Track temperature, comfort, uptime, and maintenance burden.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59552" y="3093964"/>
            <a:ext cx="3127248" cy="818022"/>
          </a:xfrm>
          <a:prstGeom prst="rect">
            <a:avLst/>
          </a:prstGeom>
          <a:solidFill>
            <a:srgbClr val="FFFFFF"/>
          </a:solidFill>
          <a:ln w="825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59552" y="3093964"/>
            <a:ext cx="64008" cy="81802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83880" y="324941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715000" y="324941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715000" y="3633460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not scale an intervention that misses both proof thresholds.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59552" y="4087277"/>
            <a:ext cx="3127248" cy="525871"/>
          </a:xfrm>
          <a:prstGeom prst="rect">
            <a:avLst/>
          </a:prstGeom>
          <a:solidFill>
            <a:srgbClr val="000000"/>
          </a:solidFill>
          <a:ln w="8255">
            <a:solidFill>
              <a:srgbClr val="D4461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0" y="4142141"/>
            <a:ext cx="2907792" cy="4161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Decision: release pilot funds now; return at day 90 with scale evidence.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Editorial Spread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31/64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09728"/>
            <a:ext cx="8266176" cy="128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64592"/>
            <a:ext cx="1225296" cy="25603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50976"/>
            <a:ext cx="16459" cy="52303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0768" y="4722876"/>
            <a:ext cx="274320" cy="16459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79932"/>
            <a:ext cx="1143000" cy="45720"/>
          </a:xfrm>
          <a:prstGeom prst="rect">
            <a:avLst/>
          </a:prstGeom>
          <a:solidFill>
            <a:srgbClr val="D4461E"/>
          </a:solidFill>
          <a:ln w="12700">
            <a:solidFill>
              <a:srgbClr val="D446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 and sources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Illustrative evidence register for the editable gallery</a:t>
            </a:r>
            <a:endParaRPr lang="en-US" sz="13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43784" y="1539789"/>
          <a:ext cx="5843016" cy="2806111"/>
        </p:xfrm>
        <a:graphic>
          <a:graphicData uri="http://schemas.openxmlformats.org/drawingml/2006/table">
            <a:tbl>
              <a:tblPr/>
              <a:tblGrid>
                <a:gridCol w="1947672"/>
                <a:gridCol w="1947672"/>
                <a:gridCol w="194767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ID</a:t>
                      </a:r>
                      <a:endParaRPr lang="en-US" sz="88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Source</a:t>
                      </a:r>
                      <a:endParaRPr lang="en-US" sz="88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Use</a:t>
                      </a:r>
                      <a:endParaRPr lang="en-US" sz="88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S1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sensor baseline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Heat-gap framing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S2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canopy inventory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Target blocks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S3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intervention model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Scenario comparison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S4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resident pulse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0A0A0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Comfort threshold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1272540"/>
            <a:ext cx="1810512" cy="3340608"/>
          </a:xfrm>
          <a:prstGeom prst="rect">
            <a:avLst/>
          </a:prstGeom>
          <a:solidFill>
            <a:srgbClr val="FFFFFF"/>
          </a:solidFill>
          <a:ln w="698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136398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4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NOTES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1748028"/>
            <a:ext cx="1627632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values are synthetic and included only to demonstrate source-aware slide structure.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Editorial Spread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32/64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914400"/>
            <a:ext cx="3291840" cy="3291840"/>
          </a:xfrm>
          <a:prstGeom prst="ellipse">
            <a:avLst/>
          </a:prstGeom>
          <a:solidFill>
            <a:srgbClr val="EA580C">
              <a:alpha val="22000"/>
            </a:srgbClr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96512"/>
            <a:ext cx="9144000" cy="512064"/>
          </a:xfrm>
          <a:prstGeom prst="rect">
            <a:avLst/>
          </a:prstGeom>
          <a:solidFill>
            <a:srgbClr val="1E293B">
              <a:alpha val="82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6583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spc="180" kern="0" dirty="0">
                <a:solidFill>
                  <a:srgbClr val="EA58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LAUNCH STORY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658368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7863840" cy="1743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Cooling the Last 5 Degrees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2536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neighborhood heat-resilience pilot designed for measurable relief, accountable delivery, and a 90-day decision.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Thesis Stage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1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17904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84832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8688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79408" y="969264"/>
            <a:ext cx="164592" cy="5248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67728" y="1188720"/>
            <a:ext cx="1481328" cy="3621024"/>
          </a:xfrm>
          <a:prstGeom prst="rect">
            <a:avLst/>
          </a:prstGeom>
          <a:solidFill>
            <a:srgbClr val="FFFFFF">
              <a:alpha val="22000"/>
            </a:srgbClr>
          </a:solidFill>
          <a:ln w="6985">
            <a:solidFill>
              <a:srgbClr val="FED7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0" y="1664208"/>
            <a:ext cx="658368" cy="50292"/>
          </a:xfrm>
          <a:prstGeom prst="rect">
            <a:avLst/>
          </a:prstGeom>
          <a:solidFill>
            <a:srgbClr val="FED7AA">
              <a:alpha val="82000"/>
            </a:srgbClr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2487168"/>
            <a:ext cx="932688" cy="502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0" y="3310128"/>
            <a:ext cx="658368" cy="50292"/>
          </a:xfrm>
          <a:prstGeom prst="rect">
            <a:avLst/>
          </a:prstGeom>
          <a:solidFill>
            <a:srgbClr val="FED7AA">
              <a:alpha val="82000"/>
            </a:srgbClr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0" y="4133088"/>
            <a:ext cx="658368" cy="50292"/>
          </a:xfrm>
          <a:prstGeom prst="rect">
            <a:avLst/>
          </a:prstGeom>
          <a:solidFill>
            <a:srgbClr val="FED7AA">
              <a:alpha val="82000"/>
            </a:srgbClr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" y="4700016"/>
            <a:ext cx="7955280" cy="329184"/>
          </a:xfrm>
          <a:prstGeom prst="rect">
            <a:avLst/>
          </a:prstGeom>
          <a:solidFill>
            <a:srgbClr val="FFFFFF">
              <a:alpha val="16000"/>
            </a:srgbClr>
          </a:solidFill>
          <a:ln w="5715">
            <a:solidFill>
              <a:srgbClr val="FED7A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" y="65836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EA58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THESIS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" y="1664208"/>
            <a:ext cx="60533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exposure to action</a:t>
            </a:r>
            <a:endParaRPr lang="en-US" sz="46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" y="385876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Locate the hottest blocks, test three interventions, then scale only what improves lived conditions.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17904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84832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8688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79408" y="969264"/>
            <a:ext cx="164592" cy="5248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9144000" cy="1453896"/>
          </a:xfrm>
          <a:prstGeom prst="rect">
            <a:avLst/>
          </a:prstGeom>
          <a:solidFill>
            <a:srgbClr val="43140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453896"/>
            <a:ext cx="914400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Heat exposure is concentrated enough to make a targeted pilot testable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evidence anchors before intervention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1051194"/>
          </a:xfrm>
          <a:prstGeom prst="rect">
            <a:avLst/>
          </a:prstGeom>
          <a:solidFill>
            <a:srgbClr val="FFFFFF"/>
          </a:solidFill>
          <a:ln w="7620">
            <a:solidFill>
              <a:srgbClr val="FED7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691640"/>
            <a:ext cx="54864" cy="105119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1801368"/>
            <a:ext cx="1417320" cy="831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5.2°C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2130552" y="1801368"/>
            <a:ext cx="6391656" cy="314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314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Peak heat gap · versus city median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961833"/>
            <a:ext cx="2468880" cy="919795"/>
          </a:xfrm>
          <a:prstGeom prst="rect">
            <a:avLst/>
          </a:prstGeom>
          <a:solidFill>
            <a:srgbClr val="FFFFFF"/>
          </a:solidFill>
          <a:ln w="7620">
            <a:solidFill>
              <a:srgbClr val="FED7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61833"/>
            <a:ext cx="54864" cy="919795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3071561"/>
            <a:ext cx="691286" cy="7003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404518" y="3071561"/>
            <a:ext cx="1356970" cy="70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314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Priority blocks · high exposure + vulnerability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37560" y="2961833"/>
            <a:ext cx="2468880" cy="919795"/>
          </a:xfrm>
          <a:prstGeom prst="rect">
            <a:avLst/>
          </a:prstGeom>
          <a:solidFill>
            <a:srgbClr val="FFFFFF"/>
          </a:solidFill>
          <a:ln w="7620">
            <a:solidFill>
              <a:srgbClr val="FED7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2961833"/>
            <a:ext cx="54864" cy="919795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02152" y="3071561"/>
            <a:ext cx="691286" cy="7003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38%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4284878" y="3071561"/>
            <a:ext cx="1356970" cy="65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314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 canopy · below target coverage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FED7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Thesis Stage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35/64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210812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26567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small geography carries a disproportionate share of the risk.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17904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84832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8688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79408" y="969264"/>
            <a:ext cx="164592" cy="5248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9144000" cy="1453896"/>
          </a:xfrm>
          <a:prstGeom prst="rect">
            <a:avLst/>
          </a:prstGeom>
          <a:solidFill>
            <a:srgbClr val="43140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453896"/>
            <a:ext cx="914400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Permanent shade creates durable value; rapid cooling buys learning speed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complementary intervention postures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4773168" cy="1227033"/>
          </a:xfrm>
          <a:prstGeom prst="rect">
            <a:avLst/>
          </a:prstGeom>
          <a:solidFill>
            <a:srgbClr val="FFFFFF"/>
          </a:solidFill>
          <a:ln w="8255">
            <a:solidFill>
              <a:srgbClr val="FED7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691640"/>
            <a:ext cx="64008" cy="1227033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" y="2001881"/>
            <a:ext cx="1190183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durable shade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903415" y="1971401"/>
            <a:ext cx="318064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314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Tree and canopy corridors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4314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Higher setup cost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4314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Long-lived neighborhood benefit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457200" y="3152394"/>
            <a:ext cx="4773168" cy="1227033"/>
          </a:xfrm>
          <a:prstGeom prst="rect">
            <a:avLst/>
          </a:prstGeom>
          <a:solidFill>
            <a:srgbClr val="FFFFFF"/>
          </a:solidFill>
          <a:ln w="8255">
            <a:solidFill>
              <a:srgbClr val="FED7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52394"/>
            <a:ext cx="64008" cy="122703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" y="3462635"/>
            <a:ext cx="1190183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 rapid cooling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903415" y="3432155"/>
            <a:ext cx="318064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314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Cool roofs and misting stops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4314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Fast deployment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4314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Shorter asset life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888736" y="2042221"/>
            <a:ext cx="2798064" cy="1986625"/>
          </a:xfrm>
          <a:prstGeom prst="rect">
            <a:avLst/>
          </a:prstGeom>
          <a:solidFill>
            <a:srgbClr val="431407"/>
          </a:solidFill>
          <a:ln w="8255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80176" y="2710922"/>
            <a:ext cx="26151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Pair one durable corridor with two rapid-cooling test blocks.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FED7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Thesis Stage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36/64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17904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84832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8688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79408" y="969264"/>
            <a:ext cx="164592" cy="5248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9144000" cy="1453896"/>
          </a:xfrm>
          <a:prstGeom prst="rect">
            <a:avLst/>
          </a:prstGeom>
          <a:solidFill>
            <a:srgbClr val="43140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453896"/>
            <a:ext cx="914400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combined intervention is expected to close most of the heat gap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Modeled peak surface-temperature reduction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43784" y="1691640"/>
            <a:ext cx="5843016" cy="2103486"/>
          </a:xfrm>
          <a:prstGeom prst="rect">
            <a:avLst/>
          </a:prstGeom>
          <a:solidFill>
            <a:srgbClr val="FFFFFF"/>
          </a:solidFill>
          <a:ln w="7620">
            <a:solidFill>
              <a:srgbClr val="FED7AA"/>
            </a:solidFill>
            <a:prstDash val="solid"/>
          </a:ln>
        </p:spPr>
      </p:sp>
      <p:graphicFrame>
        <p:nvGraphicFramePr>
          <p:cNvPr id="14" name="Chart 0" descr=""/>
          <p:cNvGraphicFramePr/>
          <p:nvPr/>
        </p:nvGraphicFramePr>
        <p:xfrm>
          <a:off x="2953512" y="1783080"/>
          <a:ext cx="5623560" cy="192060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1691640"/>
            <a:ext cx="1892808" cy="2921508"/>
          </a:xfrm>
          <a:prstGeom prst="rect">
            <a:avLst/>
          </a:prstGeom>
          <a:solidFill>
            <a:srgbClr val="FFFFFF"/>
          </a:solidFill>
          <a:ln w="6985">
            <a:solidFill>
              <a:srgbClr val="FED7A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1783080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A58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READOUT</a:t>
            </a:r>
            <a:endParaRPr lang="en-US" sz="86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203704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4314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4.1°C</a:t>
            </a:r>
            <a:endParaRPr lang="en-US" sz="25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2935224"/>
            <a:ext cx="1709928" cy="33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Combined</a:t>
            </a:r>
            <a:endParaRPr lang="en-US" sz="860" dirty="0"/>
          </a:p>
        </p:txBody>
      </p:sp>
      <p:sp>
        <p:nvSpPr>
          <p:cNvPr id="19" name="Text 16"/>
          <p:cNvSpPr txBox="1"/>
          <p:nvPr/>
        </p:nvSpPr>
        <p:spPr>
          <a:xfrm>
            <a:off x="2843784" y="4028846"/>
            <a:ext cx="2866644" cy="5843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4.1°C Combined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5820156" y="4028846"/>
            <a:ext cx="2866644" cy="5843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91% Of target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FED7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Thesis Stage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37/64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17904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84832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8688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79408" y="969264"/>
            <a:ext cx="164592" cy="5248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9144000" cy="1453896"/>
          </a:xfrm>
          <a:prstGeom prst="rect">
            <a:avLst/>
          </a:prstGeom>
          <a:solidFill>
            <a:srgbClr val="43140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453896"/>
            <a:ext cx="914400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workstream has an owner, proof signal, and decision date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Editable 90-day delivery ledger</a:t>
            </a:r>
            <a:endParaRPr lang="en-US" sz="1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61488" y="1691640"/>
          <a:ext cx="5925312" cy="2103486"/>
        </p:xfrm>
        <a:graphic>
          <a:graphicData uri="http://schemas.openxmlformats.org/drawingml/2006/table">
            <a:tbl>
              <a:tblPr/>
              <a:tblGrid>
                <a:gridCol w="1481328"/>
                <a:gridCol w="1481328"/>
                <a:gridCol w="1481328"/>
                <a:gridCol w="148132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Workstream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3140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Owner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3140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Proof signal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3140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Decision</a:t>
                      </a:r>
                      <a:endParaRPr lang="en-US" sz="102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3140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Baseline sensors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Climate lab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14 blocks live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14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Shade corridor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Public works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2°C reduction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60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Cool-roof cohort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Housing team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3°C reduction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60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Resident pulse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Community team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Comfort improves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75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2761488" y="4028846"/>
            <a:ext cx="5925312" cy="584302"/>
          </a:xfrm>
          <a:prstGeom prst="rect">
            <a:avLst/>
          </a:prstGeom>
          <a:solidFill>
            <a:srgbClr val="FFFFFF"/>
          </a:solidFill>
          <a:ln w="6985">
            <a:solidFill>
              <a:srgbClr val="FED7A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71216" y="4120286"/>
            <a:ext cx="1904878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 INDEX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4867534" y="4120286"/>
            <a:ext cx="3709538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314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rows  |  Workstream · Owner · Proof signal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7200" y="1691640"/>
            <a:ext cx="1810512" cy="2921508"/>
          </a:xfrm>
          <a:prstGeom prst="rect">
            <a:avLst/>
          </a:prstGeom>
          <a:solidFill>
            <a:srgbClr val="FFFFFF"/>
          </a:solidFill>
          <a:ln w="8255">
            <a:solidFill>
              <a:srgbClr val="FED7A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1691640"/>
            <a:ext cx="64008" cy="29215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" y="1837944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spc="120" kern="0" dirty="0">
                <a:solidFill>
                  <a:srgbClr val="EA58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READOUT</a:t>
            </a:r>
            <a:endParaRPr lang="en-US" sz="860" dirty="0"/>
          </a:p>
        </p:txBody>
      </p:sp>
      <p:sp>
        <p:nvSpPr>
          <p:cNvPr id="20" name="Text 17"/>
          <p:cNvSpPr txBox="1"/>
          <p:nvPr/>
        </p:nvSpPr>
        <p:spPr>
          <a:xfrm>
            <a:off x="621792" y="2240280"/>
            <a:ext cx="1499616" cy="1045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314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only interventions that improve both measured heat and resident comfort.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FED7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Thesis Stage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38/64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17904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84832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8688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79408" y="969264"/>
            <a:ext cx="164592" cy="5248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9144000" cy="1453896"/>
          </a:xfrm>
          <a:prstGeom prst="rect">
            <a:avLst/>
          </a:prstGeom>
          <a:solidFill>
            <a:srgbClr val="43140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453896"/>
            <a:ext cx="914400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Authorize the pilot with four explicit conditions for scale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conditions and accountability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1645920" cy="2161916"/>
          </a:xfrm>
          <a:prstGeom prst="rect">
            <a:avLst/>
          </a:prstGeom>
          <a:solidFill>
            <a:srgbClr val="FFFFFF"/>
          </a:solidFill>
          <a:ln w="8255">
            <a:solidFill>
              <a:srgbClr val="FED7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691640"/>
            <a:ext cx="64008" cy="216191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84325" y="1847088"/>
            <a:ext cx="2633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1847088"/>
            <a:ext cx="99852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Proceed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2377440"/>
            <a:ext cx="1335024" cy="660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314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 fourteen-block baseline and three intervention cohorts.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14600" y="1691640"/>
            <a:ext cx="1645920" cy="2161916"/>
          </a:xfrm>
          <a:prstGeom prst="rect">
            <a:avLst/>
          </a:prstGeom>
          <a:solidFill>
            <a:srgbClr val="FFFFFF"/>
          </a:solidFill>
          <a:ln w="8255">
            <a:solidFill>
              <a:srgbClr val="FED7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1691640"/>
            <a:ext cx="64008" cy="21619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41725" y="1847088"/>
            <a:ext cx="2633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670048" y="1847088"/>
            <a:ext cx="99852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Protect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670048" y="2377440"/>
            <a:ext cx="1335024" cy="660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314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Prioritize vulnerable residents and public-space access.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1691640"/>
            <a:ext cx="1645920" cy="2161916"/>
          </a:xfrm>
          <a:prstGeom prst="rect">
            <a:avLst/>
          </a:prstGeom>
          <a:solidFill>
            <a:srgbClr val="FFFFFF"/>
          </a:solidFill>
          <a:ln w="8255">
            <a:solidFill>
              <a:srgbClr val="FED7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1691640"/>
            <a:ext cx="64008" cy="216191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99125" y="1847088"/>
            <a:ext cx="2633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727448" y="1847088"/>
            <a:ext cx="99852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727448" y="2377440"/>
            <a:ext cx="1335024" cy="660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314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Track temperature, comfort, uptime, and maintenance burden.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29400" y="1691640"/>
            <a:ext cx="2057400" cy="2161916"/>
          </a:xfrm>
          <a:prstGeom prst="rect">
            <a:avLst/>
          </a:prstGeom>
          <a:solidFill>
            <a:srgbClr val="FFFFFF"/>
          </a:solidFill>
          <a:ln w="8255">
            <a:solidFill>
              <a:srgbClr val="FED7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1691640"/>
            <a:ext cx="64008" cy="21619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02168" y="184708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784848" y="1847088"/>
            <a:ext cx="1344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Stop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784848" y="2377440"/>
            <a:ext cx="1746504" cy="51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314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not scale an intervention that misses both proof thresholds.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691640" y="4087277"/>
            <a:ext cx="5760720" cy="525871"/>
          </a:xfrm>
          <a:prstGeom prst="rect">
            <a:avLst/>
          </a:prstGeom>
          <a:solidFill>
            <a:srgbClr val="431407"/>
          </a:solidFill>
          <a:ln w="8255">
            <a:solidFill>
              <a:srgbClr val="EA580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801368" y="4194764"/>
            <a:ext cx="5541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Decision: release pilot funds now; return at day 90 with scale evidence.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FED7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Thesis Stage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39/64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17904" y="4704588"/>
            <a:ext cx="438912" cy="411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84832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18688" y="4704588"/>
            <a:ext cx="438912" cy="41148"/>
          </a:xfrm>
          <a:prstGeom prst="rect">
            <a:avLst/>
          </a:prstGeom>
          <a:solidFill>
            <a:srgbClr val="FED7AA">
              <a:alpha val="80000"/>
            </a:srgbClr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79408" y="969264"/>
            <a:ext cx="164592" cy="5248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43140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Methods and sources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Illustrative evidence register for the editable gallery</a:t>
            </a:r>
            <a:endParaRPr lang="en-US" sz="13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72540"/>
          <a:ext cx="5760720" cy="3340608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ID</a:t>
                      </a:r>
                      <a:endParaRPr lang="en-US" sz="8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3140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Source</a:t>
                      </a:r>
                      <a:endParaRPr lang="en-US" sz="8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3140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Use</a:t>
                      </a:r>
                      <a:endParaRPr lang="en-US" sz="8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3140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S1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sensor baseline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Heat-gap framing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S2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canopy inventory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Target blocks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S3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intervention model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Scenario comparison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S4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resident pulse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43140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Comfort threshold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629400" y="3009656"/>
            <a:ext cx="2057400" cy="1603492"/>
          </a:xfrm>
          <a:prstGeom prst="rect">
            <a:avLst/>
          </a:prstGeom>
          <a:solidFill>
            <a:srgbClr val="FFFFFF"/>
          </a:solidFill>
          <a:ln w="6985">
            <a:solidFill>
              <a:srgbClr val="FED7A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39128" y="3101096"/>
            <a:ext cx="1837944" cy="22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EA58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 INDEX</a:t>
            </a:r>
            <a:endParaRPr lang="en-US" sz="920" dirty="0"/>
          </a:p>
        </p:txBody>
      </p:sp>
      <p:sp>
        <p:nvSpPr>
          <p:cNvPr id="16" name="Text 13"/>
          <p:cNvSpPr txBox="1"/>
          <p:nvPr/>
        </p:nvSpPr>
        <p:spPr>
          <a:xfrm>
            <a:off x="6739128" y="3417025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314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sources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314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 · Source · Use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629400" y="1272540"/>
            <a:ext cx="2057400" cy="1469868"/>
          </a:xfrm>
          <a:prstGeom prst="rect">
            <a:avLst/>
          </a:prstGeom>
          <a:solidFill>
            <a:srgbClr val="FFFFFF"/>
          </a:solidFill>
          <a:ln w="6985">
            <a:solidFill>
              <a:srgbClr val="FED7A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20840" y="13639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NOTES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720840" y="1748028"/>
            <a:ext cx="187452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3140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values are synthetic and included only to demonstrate source-aware slide structure.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FED7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Thesis Stage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40/64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1097280"/>
            <a:ext cx="1005840" cy="-320040"/>
          </a:xfrm>
          <a:prstGeom prst="line">
            <a:avLst/>
          </a:prstGeom>
          <a:noFill/>
          <a:ln w="15240">
            <a:solidFill>
              <a:srgbClr val="7C3AED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777240"/>
            <a:ext cx="1097280" cy="548640"/>
          </a:xfrm>
          <a:prstGeom prst="line">
            <a:avLst/>
          </a:prstGeom>
          <a:noFill/>
          <a:ln w="15240">
            <a:solidFill>
              <a:srgbClr val="7C3AED">
                <a:alpha val="2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1325880"/>
            <a:ext cx="-1645920" cy="914400"/>
          </a:xfrm>
          <a:prstGeom prst="line">
            <a:avLst/>
          </a:prstGeom>
          <a:noFill/>
          <a:ln w="15240">
            <a:solidFill>
              <a:srgbClr val="7C3AED">
                <a:alpha val="2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2240280"/>
            <a:ext cx="1188720" cy="182880"/>
          </a:xfrm>
          <a:prstGeom prst="line">
            <a:avLst/>
          </a:prstGeom>
          <a:noFill/>
          <a:ln w="15240">
            <a:solidFill>
              <a:srgbClr val="7C3AED">
                <a:alpha val="2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2423160"/>
            <a:ext cx="-731520" cy="822960"/>
          </a:xfrm>
          <a:prstGeom prst="line">
            <a:avLst/>
          </a:prstGeom>
          <a:noFill/>
          <a:ln w="15240">
            <a:solidFill>
              <a:srgbClr val="7C3AED">
                <a:alpha val="2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3246120"/>
            <a:ext cx="1554480" cy="228600"/>
          </a:xfrm>
          <a:prstGeom prst="line">
            <a:avLst/>
          </a:prstGeom>
          <a:noFill/>
          <a:ln w="15240">
            <a:solidFill>
              <a:srgbClr val="7C3AED">
                <a:alpha val="2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01868" y="1046988"/>
            <a:ext cx="100584" cy="100584"/>
          </a:xfrm>
          <a:prstGeom prst="ellipse">
            <a:avLst/>
          </a:prstGeom>
          <a:solidFill>
            <a:srgbClr val="7C3AED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07708" y="726948"/>
            <a:ext cx="100584" cy="100584"/>
          </a:xfrm>
          <a:prstGeom prst="ellipse">
            <a:avLst/>
          </a:prstGeom>
          <a:solidFill>
            <a:srgbClr val="0E7490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4988" y="1275588"/>
            <a:ext cx="100584" cy="100584"/>
          </a:xfrm>
          <a:prstGeom prst="ellipse">
            <a:avLst/>
          </a:prstGeom>
          <a:solidFill>
            <a:srgbClr val="7C3AED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59068" y="2189988"/>
            <a:ext cx="100584" cy="100584"/>
          </a:xfrm>
          <a:prstGeom prst="ellipse">
            <a:avLst/>
          </a:prstGeom>
          <a:solidFill>
            <a:srgbClr val="0E7490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47788" y="2372868"/>
            <a:ext cx="100584" cy="100584"/>
          </a:xfrm>
          <a:prstGeom prst="ellipse">
            <a:avLst/>
          </a:prstGeom>
          <a:solidFill>
            <a:srgbClr val="7C3AED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16268" y="3195828"/>
            <a:ext cx="100584" cy="100584"/>
          </a:xfrm>
          <a:prstGeom prst="ellipse">
            <a:avLst/>
          </a:prstGeom>
          <a:solidFill>
            <a:srgbClr val="0E7490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0748" y="3424428"/>
            <a:ext cx="100584" cy="100584"/>
          </a:xfrm>
          <a:prstGeom prst="ellipse">
            <a:avLst/>
          </a:prstGeom>
          <a:solidFill>
            <a:srgbClr val="7C3AED">
              <a:alpha val="82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566928"/>
            <a:ext cx="8229600" cy="18288"/>
          </a:xfrm>
          <a:prstGeom prst="rect">
            <a:avLst/>
          </a:prstGeom>
          <a:solidFill>
            <a:srgbClr val="FFFFFF">
              <a:alpha val="2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089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180" kern="0" dirty="0">
                <a:solidFill>
                  <a:srgbClr val="0E74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BOARD BRIEF</a:t>
            </a:r>
            <a:endParaRPr lang="en-US" sz="82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1024128"/>
            <a:ext cx="7955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Cooling the Last 5 Degrees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066544"/>
            <a:ext cx="7955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neighborhood heat-resilience pilot designed for measurable relief, accountable delivery, and a 90-day decision.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2645664" cy="310896"/>
          </a:xfrm>
          <a:prstGeom prst="rect">
            <a:avLst/>
          </a:prstGeom>
          <a:solidFill>
            <a:srgbClr val="0E7490">
              <a:alpha val="92000"/>
            </a:srgbClr>
          </a:solidFill>
          <a:ln w="762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42816"/>
            <a:ext cx="2462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b="1" spc="13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RISK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249168" y="4160520"/>
            <a:ext cx="2645664" cy="310896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40608" y="4242816"/>
            <a:ext cx="2462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b="1" spc="13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041136" y="4160520"/>
            <a:ext cx="2645664" cy="310896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32576" y="4242816"/>
            <a:ext cx="2462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b="1" spc="13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ACTION</a:t>
            </a:r>
            <a:endParaRPr lang="en-US" sz="78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Operating Grid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73152"/>
            <a:ext cx="1572768" cy="100584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73152"/>
            <a:ext cx="1298448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9856" y="73152"/>
            <a:ext cx="1298448" cy="100584"/>
          </a:xfrm>
          <a:prstGeom prst="rect">
            <a:avLst/>
          </a:prstGeom>
          <a:solidFill>
            <a:srgbClr val="0E7490">
              <a:alpha val="88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28032" y="73152"/>
            <a:ext cx="1572768" cy="100584"/>
          </a:xfrm>
          <a:prstGeom prst="rect">
            <a:avLst/>
          </a:prstGeom>
          <a:solidFill>
            <a:srgbClr val="DDD6FE">
              <a:alpha val="88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4631436"/>
            <a:ext cx="848563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4631436"/>
            <a:ext cx="1444752" cy="146304"/>
          </a:xfrm>
          <a:prstGeom prst="rect">
            <a:avLst/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" y="6035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STATE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2542032" y="6035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E74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VARIANCE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6035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OWNER</a:t>
            </a:r>
            <a:endParaRPr lang="en-US" sz="72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6035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DUE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512064" y="1938528"/>
            <a:ext cx="81015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exposure to action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" y="3273552"/>
            <a:ext cx="7260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Locate the hottest blocks, test three interventions, then scale only what improves lived conditions.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" y="4315968"/>
            <a:ext cx="7991856" cy="566928"/>
          </a:xfrm>
          <a:prstGeom prst="rect">
            <a:avLst/>
          </a:prstGeom>
          <a:solidFill>
            <a:srgbClr val="FFFFFF">
              <a:alpha val="18000"/>
            </a:srgbClr>
          </a:solidFill>
          <a:ln w="6985">
            <a:solidFill>
              <a:srgbClr val="DDD6FE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73152"/>
            <a:ext cx="1572768" cy="100584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73152"/>
            <a:ext cx="1298448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9856" y="73152"/>
            <a:ext cx="1298448" cy="100584"/>
          </a:xfrm>
          <a:prstGeom prst="rect">
            <a:avLst/>
          </a:prstGeom>
          <a:solidFill>
            <a:srgbClr val="0E7490">
              <a:alpha val="88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28032" y="73152"/>
            <a:ext cx="1572768" cy="100584"/>
          </a:xfrm>
          <a:prstGeom prst="rect">
            <a:avLst/>
          </a:prstGeom>
          <a:solidFill>
            <a:srgbClr val="DDD6FE">
              <a:alpha val="88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4631436"/>
            <a:ext cx="848563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4631436"/>
            <a:ext cx="1444752" cy="146304"/>
          </a:xfrm>
          <a:prstGeom prst="rect">
            <a:avLst/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99032"/>
            <a:ext cx="777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Heat exposure is concentrated enough to make a targeted pilot testable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evidence anchors before intervention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1892808" cy="2189988"/>
          </a:xfrm>
          <a:prstGeom prst="rect">
            <a:avLst/>
          </a:prstGeom>
          <a:solidFill>
            <a:srgbClr val="FFFFFF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91640"/>
            <a:ext cx="68580" cy="21899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8625" y="1843065"/>
            <a:ext cx="1589959" cy="61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5.2°C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08625" y="2565989"/>
            <a:ext cx="1589959" cy="48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Peak heat gap · versus city median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61488" y="1691640"/>
            <a:ext cx="2715768" cy="1007394"/>
          </a:xfrm>
          <a:prstGeom prst="rect">
            <a:avLst/>
          </a:prstGeom>
          <a:solidFill>
            <a:srgbClr val="FFFFFF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61488" y="1691640"/>
            <a:ext cx="54864" cy="100739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26080" y="1801368"/>
            <a:ext cx="760415" cy="787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74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777935" y="1801368"/>
            <a:ext cx="1534729" cy="65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Priority blocks · high exposure + vulnerability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88736" y="1691640"/>
            <a:ext cx="2798064" cy="1007394"/>
          </a:xfrm>
          <a:prstGeom prst="rect">
            <a:avLst/>
          </a:prstGeom>
          <a:solidFill>
            <a:srgbClr val="FFFFFF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88736" y="1691640"/>
            <a:ext cx="54864" cy="100739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53328" y="1801368"/>
            <a:ext cx="783458" cy="787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38%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928226" y="1801368"/>
            <a:ext cx="1593982" cy="48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 canopy · below target coverage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DD6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Operating Grid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43/64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4210812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426567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small geography carries a disproportionate share of the risk.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73152"/>
            <a:ext cx="1572768" cy="100584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73152"/>
            <a:ext cx="1298448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9856" y="73152"/>
            <a:ext cx="1298448" cy="100584"/>
          </a:xfrm>
          <a:prstGeom prst="rect">
            <a:avLst/>
          </a:prstGeom>
          <a:solidFill>
            <a:srgbClr val="0E7490">
              <a:alpha val="88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28032" y="73152"/>
            <a:ext cx="1572768" cy="100584"/>
          </a:xfrm>
          <a:prstGeom prst="rect">
            <a:avLst/>
          </a:prstGeom>
          <a:solidFill>
            <a:srgbClr val="DDD6FE">
              <a:alpha val="88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4631436"/>
            <a:ext cx="848563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4631436"/>
            <a:ext cx="1444752" cy="146304"/>
          </a:xfrm>
          <a:prstGeom prst="rect">
            <a:avLst/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99032"/>
            <a:ext cx="777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Permanent shade creates durable value; rapid cooling buys learning speed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complementary intervention postures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3785616" cy="2220346"/>
          </a:xfrm>
          <a:prstGeom prst="rect">
            <a:avLst/>
          </a:prstGeom>
          <a:solidFill>
            <a:srgbClr val="FFFFFF"/>
          </a:solidFill>
          <a:ln w="8255">
            <a:solidFill>
              <a:srgbClr val="DDD6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91640"/>
            <a:ext cx="3785616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1856232"/>
            <a:ext cx="3456432" cy="488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durable shade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2436148"/>
            <a:ext cx="3456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Tree and canopy corridors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Higher setup cost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Long-lived neighborhood benefit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4901184" y="1691640"/>
            <a:ext cx="3785616" cy="2220346"/>
          </a:xfrm>
          <a:prstGeom prst="rect">
            <a:avLst/>
          </a:prstGeom>
          <a:solidFill>
            <a:srgbClr val="FFFFFF"/>
          </a:solidFill>
          <a:ln w="8255">
            <a:solidFill>
              <a:srgbClr val="DDD6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01184" y="1691640"/>
            <a:ext cx="3785616" cy="640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65776" y="1856232"/>
            <a:ext cx="3456432" cy="488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 rapid cooling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065776" y="2436148"/>
            <a:ext cx="3456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Cool roofs and misting stops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Fast deployment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Shorter asset life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2103120" y="4145707"/>
            <a:ext cx="4937760" cy="467441"/>
          </a:xfrm>
          <a:prstGeom prst="rect">
            <a:avLst/>
          </a:prstGeom>
          <a:solidFill>
            <a:srgbClr val="2E1065"/>
          </a:solidFill>
          <a:ln w="8255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94560" y="4242267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Pair one durable corridor with two rapid-cooling test blocks.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DD6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Operating Grid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44/64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73152"/>
            <a:ext cx="1572768" cy="100584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73152"/>
            <a:ext cx="1298448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9856" y="73152"/>
            <a:ext cx="1298448" cy="100584"/>
          </a:xfrm>
          <a:prstGeom prst="rect">
            <a:avLst/>
          </a:prstGeom>
          <a:solidFill>
            <a:srgbClr val="0E7490">
              <a:alpha val="88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28032" y="73152"/>
            <a:ext cx="1572768" cy="100584"/>
          </a:xfrm>
          <a:prstGeom prst="rect">
            <a:avLst/>
          </a:prstGeom>
          <a:solidFill>
            <a:srgbClr val="DDD6FE">
              <a:alpha val="88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4631436"/>
            <a:ext cx="848563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4631436"/>
            <a:ext cx="1444752" cy="146304"/>
          </a:xfrm>
          <a:prstGeom prst="rect">
            <a:avLst/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99032"/>
            <a:ext cx="777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combined intervention is expected to close most of the heat gap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Modeled peak surface-temperature reduction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80447"/>
            <a:ext cx="8229600" cy="2132701"/>
          </a:xfrm>
          <a:prstGeom prst="rect">
            <a:avLst/>
          </a:prstGeom>
          <a:solidFill>
            <a:srgbClr val="FFFFFF"/>
          </a:solidFill>
          <a:ln w="7620">
            <a:solidFill>
              <a:srgbClr val="DDD6FE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66928" y="2571887"/>
          <a:ext cx="8010144" cy="194982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1691640"/>
            <a:ext cx="4059936" cy="5550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4.1°C Combined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4626864" y="1691640"/>
            <a:ext cx="4059936" cy="5550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4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91% Of target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DD6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Operating Grid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45/64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73152"/>
            <a:ext cx="1572768" cy="100584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73152"/>
            <a:ext cx="1298448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9856" y="73152"/>
            <a:ext cx="1298448" cy="100584"/>
          </a:xfrm>
          <a:prstGeom prst="rect">
            <a:avLst/>
          </a:prstGeom>
          <a:solidFill>
            <a:srgbClr val="0E7490">
              <a:alpha val="88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28032" y="73152"/>
            <a:ext cx="1572768" cy="100584"/>
          </a:xfrm>
          <a:prstGeom prst="rect">
            <a:avLst/>
          </a:prstGeom>
          <a:solidFill>
            <a:srgbClr val="DDD6FE">
              <a:alpha val="88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4631436"/>
            <a:ext cx="848563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4631436"/>
            <a:ext cx="1444752" cy="146304"/>
          </a:xfrm>
          <a:prstGeom prst="rect">
            <a:avLst/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99032"/>
            <a:ext cx="777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workstream has an owner, proof signal, and decision date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Editable 90-day delivery ledger</a:t>
            </a:r>
            <a:endParaRPr lang="en-US" sz="13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75942"/>
          <a:ext cx="8229600" cy="1606829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213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Workstream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Owner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Proof signal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Decision</a:t>
                      </a:r>
                      <a:endParaRPr lang="en-US" sz="106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3AED"/>
                    </a:solidFill>
                  </a:tcPr>
                </a:tc>
              </a:tr>
              <a:tr h="3213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Baseline sensors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106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Climate lab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14 blocks live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14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13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Shade corridor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106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Public works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2°C reduction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60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</a:tr>
              <a:tr h="3213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Cool-roof cohort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106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Housing team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3°C reduction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60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13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Resident pulse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106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Community team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Comfort improves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75</a:t>
                      </a:r>
                      <a:endParaRPr lang="en-US" sz="93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1691640"/>
            <a:ext cx="8229600" cy="379796"/>
          </a:xfrm>
          <a:prstGeom prst="rect">
            <a:avLst/>
          </a:prstGeom>
          <a:solidFill>
            <a:srgbClr val="FFFFFF"/>
          </a:solidFill>
          <a:ln w="6985">
            <a:solidFill>
              <a:srgbClr val="DDD6F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" y="1783080"/>
            <a:ext cx="2039112" cy="19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 INDEX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2697480" y="1783080"/>
            <a:ext cx="5879592" cy="19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rows  |  Workstream · Owner · Proof signal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938528" y="4087277"/>
            <a:ext cx="5266944" cy="525871"/>
          </a:xfrm>
          <a:prstGeom prst="rect">
            <a:avLst/>
          </a:prstGeom>
          <a:solidFill>
            <a:srgbClr val="FFFFFF"/>
          </a:solidFill>
          <a:ln w="8255">
            <a:solidFill>
              <a:srgbClr val="DDD6F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938528" y="4087277"/>
            <a:ext cx="64008" cy="525871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103120" y="4160429"/>
            <a:ext cx="948050" cy="379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110" kern="0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READOUT</a:t>
            </a:r>
            <a:endParaRPr lang="en-US" sz="820" dirty="0"/>
          </a:p>
        </p:txBody>
      </p:sp>
      <p:sp>
        <p:nvSpPr>
          <p:cNvPr id="18" name="Text 15"/>
          <p:cNvSpPr txBox="1"/>
          <p:nvPr/>
        </p:nvSpPr>
        <p:spPr>
          <a:xfrm>
            <a:off x="3106034" y="4142141"/>
            <a:ext cx="3916558" cy="4161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only interventions that improve both measured heat and resident comfort.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DD6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Operating Grid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46/64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73152"/>
            <a:ext cx="1572768" cy="100584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73152"/>
            <a:ext cx="1298448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9856" y="73152"/>
            <a:ext cx="1298448" cy="100584"/>
          </a:xfrm>
          <a:prstGeom prst="rect">
            <a:avLst/>
          </a:prstGeom>
          <a:solidFill>
            <a:srgbClr val="0E7490">
              <a:alpha val="88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28032" y="73152"/>
            <a:ext cx="1572768" cy="100584"/>
          </a:xfrm>
          <a:prstGeom prst="rect">
            <a:avLst/>
          </a:prstGeom>
          <a:solidFill>
            <a:srgbClr val="DDD6FE">
              <a:alpha val="88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4631436"/>
            <a:ext cx="848563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4631436"/>
            <a:ext cx="1444752" cy="146304"/>
          </a:xfrm>
          <a:prstGeom prst="rect">
            <a:avLst/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99032"/>
            <a:ext cx="777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Authorize the pilot with four explicit conditions for scale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conditions and accountability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3950208" cy="1110173"/>
          </a:xfrm>
          <a:prstGeom prst="rect">
            <a:avLst/>
          </a:prstGeom>
          <a:solidFill>
            <a:srgbClr val="FFFFFF"/>
          </a:solidFill>
          <a:ln w="8255">
            <a:solidFill>
              <a:srgbClr val="DDD6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91640"/>
            <a:ext cx="64008" cy="111017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04488" y="184708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12648" y="184708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Proceed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12648" y="2231136"/>
            <a:ext cx="3639312" cy="37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 fourteen-block baseline and three intervention cohorts.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36592" y="1691640"/>
            <a:ext cx="3950208" cy="1110173"/>
          </a:xfrm>
          <a:prstGeom prst="rect">
            <a:avLst/>
          </a:prstGeom>
          <a:solidFill>
            <a:srgbClr val="FFFFFF"/>
          </a:solidFill>
          <a:ln w="8255">
            <a:solidFill>
              <a:srgbClr val="DDD6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6592" y="1691640"/>
            <a:ext cx="64008" cy="1110173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83880" y="184708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184708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Protect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2231136"/>
            <a:ext cx="3639312" cy="37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Prioritize vulnerable residents and public-space access.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035534"/>
            <a:ext cx="2551176" cy="1051743"/>
          </a:xfrm>
          <a:prstGeom prst="rect">
            <a:avLst/>
          </a:prstGeom>
          <a:solidFill>
            <a:srgbClr val="FFFFFF"/>
          </a:solidFill>
          <a:ln w="8255">
            <a:solidFill>
              <a:srgbClr val="DDD6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035534"/>
            <a:ext cx="64008" cy="105174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05456" y="319098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12648" y="319098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12648" y="3575030"/>
            <a:ext cx="2240280" cy="356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Track temperature, comfort, uptime, and maintenance burden.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19856" y="3035534"/>
            <a:ext cx="5266944" cy="1051743"/>
          </a:xfrm>
          <a:prstGeom prst="rect">
            <a:avLst/>
          </a:prstGeom>
          <a:solidFill>
            <a:srgbClr val="FFFFFF"/>
          </a:solidFill>
          <a:ln w="8255">
            <a:solidFill>
              <a:srgbClr val="DDD6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19856" y="3035534"/>
            <a:ext cx="64008" cy="1051743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75304" y="3415101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Stop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001768" y="3360872"/>
            <a:ext cx="3529584" cy="4010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not scale an intervention that misses both proof thresholds.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17920" y="4262567"/>
            <a:ext cx="2468880" cy="350581"/>
          </a:xfrm>
          <a:prstGeom prst="rect">
            <a:avLst/>
          </a:prstGeom>
          <a:solidFill>
            <a:srgbClr val="2E1065"/>
          </a:solidFill>
          <a:ln w="8255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27648" y="4317431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Decision: release pilot funds now; return at day 90 with scale evidence.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DD6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Operating Grid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47/64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73152"/>
            <a:ext cx="1572768" cy="100584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73152"/>
            <a:ext cx="1298448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9856" y="73152"/>
            <a:ext cx="1298448" cy="100584"/>
          </a:xfrm>
          <a:prstGeom prst="rect">
            <a:avLst/>
          </a:prstGeom>
          <a:solidFill>
            <a:srgbClr val="0E7490">
              <a:alpha val="88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28032" y="73152"/>
            <a:ext cx="1572768" cy="100584"/>
          </a:xfrm>
          <a:prstGeom prst="rect">
            <a:avLst/>
          </a:prstGeom>
          <a:solidFill>
            <a:srgbClr val="DDD6FE">
              <a:alpha val="88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4631436"/>
            <a:ext cx="848563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4631436"/>
            <a:ext cx="1444752" cy="146304"/>
          </a:xfrm>
          <a:prstGeom prst="rect">
            <a:avLst/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79932"/>
            <a:ext cx="777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Methods and sources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Illustrative evidence register for the editable gallery</a:t>
            </a:r>
            <a:endParaRPr lang="en-US" sz="13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07474"/>
          <a:ext cx="8229600" cy="2238129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ID</a:t>
                      </a:r>
                      <a:endParaRPr lang="en-US" sz="8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106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Source</a:t>
                      </a:r>
                      <a:endParaRPr lang="en-US" sz="8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106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Use</a:t>
                      </a:r>
                      <a:endParaRPr lang="en-US" sz="8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106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S1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sensor baseline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Heat-gap framing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S2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canopy inventory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Target blocks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S3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intervention model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Scenario comparison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S4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resident pulse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2E1065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Comfort threshold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4300467"/>
            <a:ext cx="8229600" cy="312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i="1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values are synthetic and included only to demonstrate source-aware slide structure.</a:t>
            </a:r>
            <a:endParaRPr lang="en-US" sz="760" dirty="0"/>
          </a:p>
        </p:txBody>
      </p:sp>
      <p:sp>
        <p:nvSpPr>
          <p:cNvPr id="13" name="Shape 10"/>
          <p:cNvSpPr/>
          <p:nvPr/>
        </p:nvSpPr>
        <p:spPr>
          <a:xfrm>
            <a:off x="457200" y="1272540"/>
            <a:ext cx="8229600" cy="501091"/>
          </a:xfrm>
          <a:prstGeom prst="rect">
            <a:avLst/>
          </a:prstGeom>
          <a:solidFill>
            <a:srgbClr val="FFFFFF"/>
          </a:solidFill>
          <a:ln w="6985">
            <a:solidFill>
              <a:srgbClr val="DDD6F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1363980"/>
            <a:ext cx="203911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 INDEX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2697480" y="1363980"/>
            <a:ext cx="587959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E106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sources  |  ID · Source · Use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DD6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Operating Grid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48/64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03504"/>
            <a:ext cx="8229600" cy="914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180" kern="0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EDITORIAL REPORT</a:t>
            </a:r>
            <a:endParaRPr lang="en-US" sz="82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78992"/>
            <a:ext cx="7909560" cy="888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Cooling the Last 5 Degrees</a:t>
            </a:r>
            <a:endParaRPr lang="en-US" sz="4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32076"/>
            <a:ext cx="7909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neighborhood heat-resilience pilot designed for measurable relief, accountable delivery, and a 90-day decision.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4224528"/>
            <a:ext cx="12344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Public Docket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694944"/>
            <a:ext cx="384048" cy="5413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694944"/>
            <a:ext cx="384048" cy="6217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" y="932688"/>
            <a:ext cx="237744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" y="1975104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" y="3017520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" y="4059936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4704588"/>
            <a:ext cx="8138160" cy="16459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950976"/>
            <a:ext cx="201168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82296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 QUESTION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1444752"/>
            <a:ext cx="73883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exposure to action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3145536"/>
            <a:ext cx="6528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Locate the hottest blocks, test three interventions, then scale only what improves lived conditions.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8096" y="4443984"/>
            <a:ext cx="7424928" cy="493776"/>
          </a:xfrm>
          <a:prstGeom prst="rect">
            <a:avLst/>
          </a:prstGeom>
          <a:solidFill>
            <a:srgbClr val="FFFFFF"/>
          </a:solidFill>
          <a:ln w="8255">
            <a:solidFill>
              <a:srgbClr val="FED7A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455371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population  |  geography  |  evidence  |  options  |  accountability</a:t>
            </a:r>
            <a:endParaRPr lang="en-US" sz="82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694944"/>
            <a:ext cx="384048" cy="5413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694944"/>
            <a:ext cx="384048" cy="6217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" y="932688"/>
            <a:ext cx="237744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" y="1975104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" y="3017520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" y="4059936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4704588"/>
            <a:ext cx="8138160" cy="16459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99032"/>
            <a:ext cx="1143000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914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Heat exposure is concentrated enough to make a targeted pilot testable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0515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evidence anchors before intervention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2962656" cy="744596"/>
          </a:xfrm>
          <a:prstGeom prst="rect">
            <a:avLst/>
          </a:prstGeom>
          <a:solidFill>
            <a:srgbClr val="FFFFFF"/>
          </a:solidFill>
          <a:ln w="7620">
            <a:solidFill>
              <a:srgbClr val="FED7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691640"/>
            <a:ext cx="54864" cy="74459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1801368"/>
            <a:ext cx="829544" cy="525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5.2°C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542776" y="1801368"/>
            <a:ext cx="1712488" cy="48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Peak heat gap · versus city median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13632" y="1691640"/>
            <a:ext cx="4773168" cy="569397"/>
          </a:xfrm>
          <a:prstGeom prst="rect">
            <a:avLst/>
          </a:prstGeom>
          <a:solidFill>
            <a:srgbClr val="FFFFFF"/>
          </a:solidFill>
          <a:ln w="7620">
            <a:solidFill>
              <a:srgbClr val="FED7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13632" y="1691640"/>
            <a:ext cx="54864" cy="569397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78224" y="1801368"/>
            <a:ext cx="1336487" cy="34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506151" y="1801368"/>
            <a:ext cx="3016057" cy="34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Priority blocks · high exposure + vulnerability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2611435"/>
            <a:ext cx="4773168" cy="569397"/>
          </a:xfrm>
          <a:prstGeom prst="rect">
            <a:avLst/>
          </a:prstGeom>
          <a:solidFill>
            <a:srgbClr val="FFFFFF"/>
          </a:solidFill>
          <a:ln w="7620">
            <a:solidFill>
              <a:srgbClr val="FED7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611435"/>
            <a:ext cx="54864" cy="569397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2721163"/>
            <a:ext cx="1336487" cy="34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38%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2049719" y="2721163"/>
            <a:ext cx="3016057" cy="314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 canopy · below target coverage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FED7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Public Docket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51/64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4210812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426567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small geography carries a disproportionate share of the risk.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694944"/>
            <a:ext cx="384048" cy="5413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694944"/>
            <a:ext cx="384048" cy="6217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" y="932688"/>
            <a:ext cx="237744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" y="1975104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" y="3017520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" y="4059936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4704588"/>
            <a:ext cx="8138160" cy="16459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99032"/>
            <a:ext cx="1143000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914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Permanent shade creates durable value; rapid cooling buys learning speed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0515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complementary intervention postures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44752" y="1691640"/>
            <a:ext cx="5184648" cy="1256248"/>
          </a:xfrm>
          <a:prstGeom prst="rect">
            <a:avLst/>
          </a:prstGeom>
          <a:solidFill>
            <a:srgbClr val="FFFFFF"/>
          </a:solidFill>
          <a:ln w="8255">
            <a:solidFill>
              <a:srgbClr val="FED7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44752" y="1691640"/>
            <a:ext cx="64008" cy="125624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91056" y="2016488"/>
            <a:ext cx="1305397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durable shade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006181" y="1986008"/>
            <a:ext cx="347691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Tree and canopy corridors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Higher setup cost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Long-lived neighborhood benefit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1444752" y="3152394"/>
            <a:ext cx="5184648" cy="1256248"/>
          </a:xfrm>
          <a:prstGeom prst="rect">
            <a:avLst/>
          </a:prstGeom>
          <a:solidFill>
            <a:srgbClr val="FFFFFF"/>
          </a:solidFill>
          <a:ln w="8255">
            <a:solidFill>
              <a:srgbClr val="FED7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4752" y="3152394"/>
            <a:ext cx="64008" cy="1256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591056" y="3477242"/>
            <a:ext cx="1305397" cy="60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 rapid cooling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006181" y="3446762"/>
            <a:ext cx="347691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Cool roofs and misting stops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Fast deployment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Shorter asset life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040880" y="1691640"/>
            <a:ext cx="1645920" cy="2921508"/>
          </a:xfrm>
          <a:prstGeom prst="rect">
            <a:avLst/>
          </a:prstGeom>
          <a:solidFill>
            <a:srgbClr val="7C2D12"/>
          </a:solidFill>
          <a:ln w="8255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0" y="2737866"/>
            <a:ext cx="146304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Pair one durable corridor with two rapid-cooling test blocks.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FED7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Public Docket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52/64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694944"/>
            <a:ext cx="384048" cy="5413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694944"/>
            <a:ext cx="384048" cy="6217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" y="932688"/>
            <a:ext cx="237744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" y="1975104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" y="3017520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" y="4059936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4704588"/>
            <a:ext cx="8138160" cy="16459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99032"/>
            <a:ext cx="1143000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914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combined intervention is expected to close most of the heat gap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0515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Modeled peak surface-temperature reduction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1811335"/>
          </a:xfrm>
          <a:prstGeom prst="rect">
            <a:avLst/>
          </a:prstGeom>
          <a:solidFill>
            <a:srgbClr val="FFFFFF"/>
          </a:solidFill>
          <a:ln w="7620">
            <a:solidFill>
              <a:srgbClr val="FED7AA"/>
            </a:solidFill>
            <a:prstDash val="solid"/>
          </a:ln>
        </p:spPr>
      </p:sp>
      <p:graphicFrame>
        <p:nvGraphicFramePr>
          <p:cNvPr id="13" name="Chart 0" descr=""/>
          <p:cNvGraphicFramePr/>
          <p:nvPr/>
        </p:nvGraphicFramePr>
        <p:xfrm>
          <a:off x="566928" y="1783080"/>
          <a:ext cx="8010144" cy="162845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3795126"/>
            <a:ext cx="2468880" cy="818022"/>
          </a:xfrm>
          <a:prstGeom prst="rect">
            <a:avLst/>
          </a:prstGeom>
          <a:solidFill>
            <a:srgbClr val="FFFFFF"/>
          </a:solidFill>
          <a:ln w="6985">
            <a:solidFill>
              <a:srgbClr val="FED7A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4039545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READOUT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1225296" y="3966393"/>
            <a:ext cx="5925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4.1°C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909267" y="4048689"/>
            <a:ext cx="9070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Combined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3419856" y="3795126"/>
            <a:ext cx="5266944" cy="818022"/>
          </a:xfrm>
          <a:prstGeom prst="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11296" y="4032966"/>
            <a:ext cx="5084064" cy="342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Synthetic planning model for release demonstration; editable native chart.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FED7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Public Docket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53/64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694944"/>
            <a:ext cx="384048" cy="5413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694944"/>
            <a:ext cx="384048" cy="6217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" y="932688"/>
            <a:ext cx="237744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" y="1975104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" y="3017520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" y="4059936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4704588"/>
            <a:ext cx="8138160" cy="16459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99032"/>
            <a:ext cx="1143000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914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workstream has an owner, proof signal, and decision date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0515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Editable 90-day delivery ledger</a:t>
            </a:r>
            <a:endParaRPr lang="en-US" sz="13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03120" y="1691640"/>
          <a:ext cx="4937760" cy="2921508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Workstream</a:t>
                      </a:r>
                      <a:endParaRPr lang="en-US" sz="9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D7A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Owner</a:t>
                      </a:r>
                      <a:endParaRPr lang="en-US" sz="9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D7A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Proof signal</a:t>
                      </a:r>
                      <a:endParaRPr lang="en-US" sz="9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D7A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Decision</a:t>
                      </a:r>
                      <a:endParaRPr lang="en-US" sz="9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D7A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Baseline sensors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Climate lab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14 blocks live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14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Shade corridor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Public works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2°C reduction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60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Cool-roof cohort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Housing team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3°C reduction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60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Resident pulse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Community team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Comfort improves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Day 75</a:t>
                      </a:r>
                      <a:endParaRPr lang="en-US" sz="89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1691640"/>
            <a:ext cx="1234440" cy="2921508"/>
          </a:xfrm>
          <a:prstGeom prst="rect">
            <a:avLst/>
          </a:prstGeom>
          <a:solidFill>
            <a:srgbClr val="FFFFFF"/>
          </a:solidFill>
          <a:ln w="6985">
            <a:solidFill>
              <a:srgbClr val="FED7A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1783080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 INDEX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2112264"/>
            <a:ext cx="1014984" cy="699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rows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Workstream · Owner · Proof signal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452360" y="1691640"/>
            <a:ext cx="1234440" cy="2921508"/>
          </a:xfrm>
          <a:prstGeom prst="rect">
            <a:avLst/>
          </a:prstGeom>
          <a:solidFill>
            <a:srgbClr val="FFFFFF"/>
          </a:solidFill>
          <a:ln w="8255">
            <a:solidFill>
              <a:srgbClr val="FED7A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52360" y="1691640"/>
            <a:ext cx="64008" cy="29215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562088" y="1801368"/>
            <a:ext cx="1014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READOUT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7562088" y="2221992"/>
            <a:ext cx="1014984" cy="709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only interventions that improve both measured heat and resident comfort.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FED7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Public Docket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54/64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694944"/>
            <a:ext cx="384048" cy="5413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694944"/>
            <a:ext cx="384048" cy="6217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" y="932688"/>
            <a:ext cx="237744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" y="1975104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" y="3017520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" y="4059936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4704588"/>
            <a:ext cx="8138160" cy="16459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99032"/>
            <a:ext cx="1143000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914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Authorize the pilot with four explicit conditions for scale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0515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conditions and accountability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3785616" cy="876452"/>
          </a:xfrm>
          <a:prstGeom prst="rect">
            <a:avLst/>
          </a:prstGeom>
          <a:solidFill>
            <a:srgbClr val="FFFFFF"/>
          </a:solidFill>
          <a:ln w="8255">
            <a:solidFill>
              <a:srgbClr val="FED7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691640"/>
            <a:ext cx="64008" cy="8764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" y="1983562"/>
            <a:ext cx="10180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Proceed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703893" y="1929333"/>
            <a:ext cx="2383475" cy="4010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 fourteen-block baseline and three intervention cohorts.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01184" y="1691640"/>
            <a:ext cx="3785616" cy="876452"/>
          </a:xfrm>
          <a:prstGeom prst="rect">
            <a:avLst/>
          </a:prstGeom>
          <a:solidFill>
            <a:srgbClr val="FFFFFF"/>
          </a:solidFill>
          <a:ln w="8255">
            <a:solidFill>
              <a:srgbClr val="FED7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01184" y="1691640"/>
            <a:ext cx="64008" cy="8764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56632" y="1983562"/>
            <a:ext cx="10180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Protect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147877" y="1929333"/>
            <a:ext cx="2383475" cy="4010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Prioritize vulnerable residents and public-space access.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860243"/>
            <a:ext cx="2468880" cy="876452"/>
          </a:xfrm>
          <a:prstGeom prst="rect">
            <a:avLst/>
          </a:prstGeom>
          <a:solidFill>
            <a:srgbClr val="FFFFFF"/>
          </a:solidFill>
          <a:ln w="8255">
            <a:solidFill>
              <a:srgbClr val="FED7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60243"/>
            <a:ext cx="64008" cy="8764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23160" y="3015691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12648" y="3015691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12648" y="3399739"/>
            <a:ext cx="2157984" cy="181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Track temperature, comfort, uptime, and maintenance burden.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84448" y="2860243"/>
            <a:ext cx="5102352" cy="876452"/>
          </a:xfrm>
          <a:prstGeom prst="rect">
            <a:avLst/>
          </a:prstGeom>
          <a:solidFill>
            <a:srgbClr val="FFFFFF"/>
          </a:solidFill>
          <a:ln w="8255">
            <a:solidFill>
              <a:srgbClr val="FED7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84448" y="2860243"/>
            <a:ext cx="64008" cy="8764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39896" y="3152165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Stop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166360" y="3097936"/>
            <a:ext cx="3364992" cy="4010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not scale an intervention that misses both proof thresholds.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4028846"/>
            <a:ext cx="8229600" cy="584302"/>
          </a:xfrm>
          <a:prstGeom prst="rect">
            <a:avLst/>
          </a:prstGeom>
          <a:solidFill>
            <a:srgbClr val="7C2D12"/>
          </a:solidFill>
          <a:ln w="8255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4165549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Decision: release pilot funds now; return at day 90 with scale evidence.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FED7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Public Docket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55/64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694944"/>
            <a:ext cx="384048" cy="5413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694944"/>
            <a:ext cx="384048" cy="6217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" y="932688"/>
            <a:ext cx="237744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" y="1975104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" y="3017520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" y="4059936"/>
            <a:ext cx="237744" cy="32004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4704588"/>
            <a:ext cx="8138160" cy="16459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979932"/>
            <a:ext cx="1143000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91440"/>
            <a:ext cx="79552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Methods and sources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324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Illustrative evidence register for the editable gallery</a:t>
            </a:r>
            <a:endParaRPr lang="en-US" sz="13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72540"/>
          <a:ext cx="5596128" cy="2405238"/>
        </p:xfrm>
        <a:graphic>
          <a:graphicData uri="http://schemas.openxmlformats.org/drawingml/2006/table">
            <a:tbl>
              <a:tblPr/>
              <a:tblGrid>
                <a:gridCol w="1865376"/>
                <a:gridCol w="1865376"/>
                <a:gridCol w="1865376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ID</a:t>
                      </a:r>
                      <a:endParaRPr lang="en-US" sz="8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2D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Source</a:t>
                      </a:r>
                      <a:endParaRPr lang="en-US" sz="8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2D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Use</a:t>
                      </a:r>
                      <a:endParaRPr lang="en-US" sz="8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2D1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S1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sensor baseline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Heat-gap framing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S2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canopy inventory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Target blocks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S3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intervention model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Scenario comparison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S4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Synthetic resident pulse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7C2D12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Comfort threshold</a:t>
                      </a:r>
                      <a:endParaRPr lang="en-US" sz="78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3945026"/>
            <a:ext cx="8229600" cy="668122"/>
          </a:xfrm>
          <a:prstGeom prst="rect">
            <a:avLst/>
          </a:prstGeom>
          <a:solidFill>
            <a:srgbClr val="FFFFFF"/>
          </a:solidFill>
          <a:ln w="6985">
            <a:solidFill>
              <a:srgbClr val="FED7A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4036466"/>
            <a:ext cx="2039112" cy="4852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 INDEX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2697480" y="4036466"/>
            <a:ext cx="5879592" cy="4852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sources  |  ID · Source · Use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547104" y="1272540"/>
            <a:ext cx="2139696" cy="2405238"/>
          </a:xfrm>
          <a:prstGeom prst="rect">
            <a:avLst/>
          </a:prstGeom>
          <a:solidFill>
            <a:srgbClr val="FFFFFF"/>
          </a:solidFill>
          <a:ln w="6985">
            <a:solidFill>
              <a:srgbClr val="FED7A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38544" y="1363980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NOTES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6638544" y="1748028"/>
            <a:ext cx="195681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C2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values are synthetic and included only to demonstrate source-aware slide structure.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FED7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Urban heat resilience pilot | Public Docket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34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56/64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20240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9584" y="64008"/>
            <a:ext cx="1353312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38928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48272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68512" y="402336"/>
            <a:ext cx="292608" cy="4846320"/>
          </a:xfrm>
          <a:prstGeom prst="rect">
            <a:avLst/>
          </a:prstGeom>
          <a:solidFill>
            <a:srgbClr val="101A33">
              <a:alpha val="88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23376" y="1005840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23376" y="1901952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23376" y="2798064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3694176"/>
            <a:ext cx="182880" cy="16459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23376" y="4590288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23376" y="5486400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932688"/>
            <a:ext cx="1572768" cy="3931920"/>
          </a:xfrm>
          <a:prstGeom prst="rect">
            <a:avLst/>
          </a:prstGeom>
          <a:solidFill>
            <a:srgbClr val="101A33">
              <a:alpha val="96000"/>
            </a:srgbClr>
          </a:solidFill>
          <a:ln w="8255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117043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STATUS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1627632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76148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</a:t>
            </a:r>
            <a:endParaRPr lang="en-US" sz="78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274320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" y="2999232"/>
            <a:ext cx="1207008" cy="0"/>
          </a:xfrm>
          <a:prstGeom prst="line">
            <a:avLst/>
          </a:prstGeom>
          <a:noFill/>
          <a:ln w="5715">
            <a:solidFill>
              <a:srgbClr val="1E293B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36499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</a:t>
            </a:r>
            <a:endParaRPr lang="en-US" sz="78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" y="334670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6928" y="3602736"/>
            <a:ext cx="1207008" cy="0"/>
          </a:xfrm>
          <a:prstGeom prst="line">
            <a:avLst/>
          </a:prstGeom>
          <a:noFill/>
          <a:ln w="5715">
            <a:solidFill>
              <a:srgbClr val="1E293B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396849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</a:t>
            </a:r>
            <a:endParaRPr lang="en-US" sz="78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" y="395020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6928" y="4206240"/>
            <a:ext cx="1207008" cy="0"/>
          </a:xfrm>
          <a:prstGeom prst="line">
            <a:avLst/>
          </a:prstGeom>
          <a:noFill/>
          <a:ln w="5715">
            <a:solidFill>
              <a:srgbClr val="1E293B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59152" y="1243584"/>
            <a:ext cx="61447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Cooling the Last 5 Degrees</a:t>
            </a:r>
            <a:endParaRPr lang="en-US" sz="3800" dirty="0"/>
          </a:p>
        </p:txBody>
      </p:sp>
      <p:sp>
        <p:nvSpPr>
          <p:cNvPr id="27" name="Text 25"/>
          <p:cNvSpPr txBox="1"/>
          <p:nvPr/>
        </p:nvSpPr>
        <p:spPr>
          <a:xfrm>
            <a:off x="2359152" y="2907792"/>
            <a:ext cx="5413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neighborhood heat-resilience pilot designed for measurable relief, accountable delivery, and a 90-day decision.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359152" y="4151376"/>
            <a:ext cx="5925312" cy="566928"/>
          </a:xfrm>
          <a:prstGeom prst="rect">
            <a:avLst/>
          </a:prstGeom>
          <a:solidFill>
            <a:srgbClr val="101A33">
              <a:alpha val="98000"/>
            </a:srgbClr>
          </a:solidFill>
          <a:ln w="6985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542032" y="433425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</a:t>
            </a:r>
            <a:endParaRPr lang="en-US" sz="780" dirty="0"/>
          </a:p>
        </p:txBody>
      </p:sp>
      <p:sp>
        <p:nvSpPr>
          <p:cNvPr id="30" name="Text 28"/>
          <p:cNvSpPr txBox="1"/>
          <p:nvPr/>
        </p:nvSpPr>
        <p:spPr>
          <a:xfrm>
            <a:off x="4389120" y="433425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</a:t>
            </a:r>
            <a:endParaRPr lang="en-US" sz="78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433425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78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7777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heat resilience pilot | Telemetry Canvas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20240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9584" y="64008"/>
            <a:ext cx="1353312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38928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48272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68512" y="402336"/>
            <a:ext cx="292608" cy="4846320"/>
          </a:xfrm>
          <a:prstGeom prst="rect">
            <a:avLst/>
          </a:prstGeom>
          <a:solidFill>
            <a:srgbClr val="101A33">
              <a:alpha val="88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23376" y="1005840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23376" y="1901952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23376" y="2798064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3694176"/>
            <a:ext cx="182880" cy="16459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23376" y="4590288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23376" y="5486400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1060704"/>
            <a:ext cx="1572768" cy="4096512"/>
          </a:xfrm>
          <a:prstGeom prst="rect">
            <a:avLst/>
          </a:prstGeom>
          <a:solidFill>
            <a:srgbClr val="101A33">
              <a:alpha val="94000"/>
            </a:srgbClr>
          </a:solidFill>
          <a:ln w="762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133502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MODE</a:t>
            </a:r>
            <a:endParaRPr lang="en-US" sz="72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1920240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" y="2926080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" y="3346704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DIAGNOSE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" y="37673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" y="4187952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2359152" y="1554480"/>
            <a:ext cx="607161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exposure to action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2359152" y="3291840"/>
            <a:ext cx="5285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Locate the hottest blocks, test three interventions, then scale only what improves lived conditions.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20240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9584" y="64008"/>
            <a:ext cx="1353312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38928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48272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68512" y="402336"/>
            <a:ext cx="292608" cy="4846320"/>
          </a:xfrm>
          <a:prstGeom prst="rect">
            <a:avLst/>
          </a:prstGeom>
          <a:solidFill>
            <a:srgbClr val="101A33">
              <a:alpha val="88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23376" y="1005840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23376" y="1901952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23376" y="2798064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3694176"/>
            <a:ext cx="182880" cy="16459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23376" y="4590288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23376" y="5486400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1453896"/>
          </a:xfrm>
          <a:prstGeom prst="rect">
            <a:avLst/>
          </a:prstGeom>
          <a:solidFill>
            <a:srgbClr val="0307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453896"/>
            <a:ext cx="914400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exposure is concentrated enough to make a targeted pilot testable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evidence anchors before intervention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1691640"/>
            <a:ext cx="8229600" cy="481797"/>
          </a:xfrm>
          <a:prstGeom prst="rect">
            <a:avLst/>
          </a:prstGeom>
          <a:solidFill>
            <a:srgbClr val="101A33"/>
          </a:solidFill>
          <a:ln w="762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691640"/>
            <a:ext cx="54864" cy="481797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18013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5.2°C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2130552" y="1801368"/>
            <a:ext cx="6391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heat gap · versus city median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2348636"/>
            <a:ext cx="2386584" cy="1532992"/>
          </a:xfrm>
          <a:prstGeom prst="rect">
            <a:avLst/>
          </a:prstGeom>
          <a:solidFill>
            <a:srgbClr val="101A33"/>
          </a:solidFill>
          <a:ln w="762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348636"/>
            <a:ext cx="68580" cy="15329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8127" y="2539563"/>
            <a:ext cx="2004731" cy="429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2300" dirty="0"/>
          </a:p>
        </p:txBody>
      </p:sp>
      <p:sp>
        <p:nvSpPr>
          <p:cNvPr id="25" name="Text 23"/>
          <p:cNvSpPr txBox="1"/>
          <p:nvPr/>
        </p:nvSpPr>
        <p:spPr>
          <a:xfrm>
            <a:off x="648127" y="3078529"/>
            <a:ext cx="2004731" cy="612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blocks · high exposure + vulnerability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37560" y="2348636"/>
            <a:ext cx="3291840" cy="1532992"/>
          </a:xfrm>
          <a:prstGeom prst="rect">
            <a:avLst/>
          </a:prstGeom>
          <a:solidFill>
            <a:srgbClr val="030712"/>
          </a:solidFill>
          <a:ln w="7620">
            <a:solidFill>
              <a:srgbClr val="0307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2348636"/>
            <a:ext cx="54864" cy="15329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02152" y="2458364"/>
            <a:ext cx="921715" cy="1313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38%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4515307" y="2458364"/>
            <a:ext cx="1949501" cy="48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canopy · below target coverage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heat resilience pilot | Telemetry Canvas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59/64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4210812"/>
            <a:ext cx="8138160" cy="566928"/>
          </a:xfrm>
          <a:prstGeom prst="roundRect">
            <a:avLst>
              <a:gd name="adj" fmla="val 35484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426567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small geography carries a disproportionate share of the risk.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20240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9584" y="64008"/>
            <a:ext cx="1353312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38928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48272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68512" y="402336"/>
            <a:ext cx="292608" cy="4846320"/>
          </a:xfrm>
          <a:prstGeom prst="rect">
            <a:avLst/>
          </a:prstGeom>
          <a:solidFill>
            <a:srgbClr val="101A33">
              <a:alpha val="88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23376" y="1005840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23376" y="1901952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23376" y="2798064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3694176"/>
            <a:ext cx="182880" cy="16459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23376" y="4590288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23376" y="5486400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1453896"/>
          </a:xfrm>
          <a:prstGeom prst="rect">
            <a:avLst/>
          </a:prstGeom>
          <a:solidFill>
            <a:srgbClr val="0307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453896"/>
            <a:ext cx="914400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Permanent shade creates durable value; rapid cooling buys learning speed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complementary intervention postures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392802"/>
            <a:ext cx="3785616" cy="2220346"/>
          </a:xfrm>
          <a:prstGeom prst="rect">
            <a:avLst/>
          </a:prstGeom>
          <a:solidFill>
            <a:srgbClr val="101A33"/>
          </a:solidFill>
          <a:ln w="8255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392802"/>
            <a:ext cx="3785616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2557394"/>
            <a:ext cx="3456432" cy="488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durable shade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3137310"/>
            <a:ext cx="3456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Tree and canopy corridors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Higher setup cost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Long-lived neighborhood benefit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901184" y="2392802"/>
            <a:ext cx="3785616" cy="2220346"/>
          </a:xfrm>
          <a:prstGeom prst="rect">
            <a:avLst/>
          </a:prstGeom>
          <a:solidFill>
            <a:srgbClr val="101A33"/>
          </a:solidFill>
          <a:ln w="8255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01184" y="2392802"/>
            <a:ext cx="3785616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65776" y="2557394"/>
            <a:ext cx="3456432" cy="488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rapid cooling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065776" y="3137310"/>
            <a:ext cx="34564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Cool roofs and misting stops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Fast deployment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Shorter asset life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3419856" y="1691640"/>
            <a:ext cx="2304288" cy="584302"/>
          </a:xfrm>
          <a:prstGeom prst="rect">
            <a:avLst/>
          </a:prstGeom>
          <a:solidFill>
            <a:srgbClr val="030712"/>
          </a:solidFill>
          <a:ln w="8255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11296" y="1764792"/>
            <a:ext cx="2121408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Pair one durable corridor with two rapid-cooling test blocks.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heat resilience pilot | Telemetry Canvas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60/64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20240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9584" y="64008"/>
            <a:ext cx="1353312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38928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48272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68512" y="402336"/>
            <a:ext cx="292608" cy="4846320"/>
          </a:xfrm>
          <a:prstGeom prst="rect">
            <a:avLst/>
          </a:prstGeom>
          <a:solidFill>
            <a:srgbClr val="101A33">
              <a:alpha val="88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23376" y="1005840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23376" y="1901952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23376" y="2798064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3694176"/>
            <a:ext cx="182880" cy="16459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23376" y="4590288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23376" y="5486400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1453896"/>
          </a:xfrm>
          <a:prstGeom prst="rect">
            <a:avLst/>
          </a:prstGeom>
          <a:solidFill>
            <a:srgbClr val="0307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453896"/>
            <a:ext cx="914400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combined intervention is expected to close most of the heat gap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Modeled peak surface-temperature reduction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350008" y="2042221"/>
            <a:ext cx="5020056" cy="2220346"/>
          </a:xfrm>
          <a:prstGeom prst="rect">
            <a:avLst/>
          </a:prstGeom>
          <a:solidFill>
            <a:srgbClr val="101A33"/>
          </a:solidFill>
          <a:ln w="7620">
            <a:solidFill>
              <a:srgbClr val="1E293B"/>
            </a:solidFill>
            <a:prstDash val="solid"/>
          </a:ln>
        </p:spPr>
      </p:sp>
      <p:graphicFrame>
        <p:nvGraphicFramePr>
          <p:cNvPr id="19" name="Chart 0" descr=""/>
          <p:cNvGraphicFramePr/>
          <p:nvPr/>
        </p:nvGraphicFramePr>
        <p:xfrm>
          <a:off x="2459736" y="2133661"/>
          <a:ext cx="4800600" cy="203746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457200" y="1691640"/>
            <a:ext cx="1481328" cy="2921508"/>
          </a:xfrm>
          <a:prstGeom prst="rect">
            <a:avLst/>
          </a:prstGeom>
          <a:solidFill>
            <a:srgbClr val="101A33"/>
          </a:solidFill>
          <a:ln w="6985">
            <a:solidFill>
              <a:srgbClr val="1E29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178308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READOUT</a:t>
            </a:r>
            <a:endParaRPr lang="en-US" sz="86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2203704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4.1°C</a:t>
            </a:r>
            <a:endParaRPr lang="en-US" sz="25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2935224"/>
            <a:ext cx="1298448" cy="33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7781544" y="1691640"/>
            <a:ext cx="905256" cy="1133856"/>
          </a:xfrm>
          <a:prstGeom prst="rect">
            <a:avLst/>
          </a:prstGeom>
          <a:solidFill>
            <a:srgbClr val="101A33"/>
          </a:solidFill>
          <a:ln w="6985">
            <a:solidFill>
              <a:srgbClr val="1E293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81544" y="1691640"/>
            <a:ext cx="50292" cy="113385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27848" y="179222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4.1°C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927848" y="2167128"/>
            <a:ext cx="612648" cy="5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 · modeled reduction</a:t>
            </a:r>
            <a:endParaRPr lang="en-US" sz="820" dirty="0"/>
          </a:p>
        </p:txBody>
      </p:sp>
      <p:sp>
        <p:nvSpPr>
          <p:cNvPr id="28" name="Shape 25"/>
          <p:cNvSpPr/>
          <p:nvPr/>
        </p:nvSpPr>
        <p:spPr>
          <a:xfrm>
            <a:off x="7781544" y="2971800"/>
            <a:ext cx="905256" cy="1133856"/>
          </a:xfrm>
          <a:prstGeom prst="rect">
            <a:avLst/>
          </a:prstGeom>
          <a:solidFill>
            <a:srgbClr val="101A33"/>
          </a:solidFill>
          <a:ln w="6985">
            <a:solidFill>
              <a:srgbClr val="1E293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81544" y="2971800"/>
            <a:ext cx="50292" cy="113385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927848" y="307238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91%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927848" y="3447288"/>
            <a:ext cx="612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target · before field correction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heat resilience pilot | Telemetry Canvas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61/64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20240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9584" y="64008"/>
            <a:ext cx="1353312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38928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48272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68512" y="402336"/>
            <a:ext cx="292608" cy="4846320"/>
          </a:xfrm>
          <a:prstGeom prst="rect">
            <a:avLst/>
          </a:prstGeom>
          <a:solidFill>
            <a:srgbClr val="101A33">
              <a:alpha val="88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23376" y="1005840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23376" y="1901952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23376" y="2798064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3694176"/>
            <a:ext cx="182880" cy="16459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23376" y="4590288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23376" y="5486400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1453896"/>
          </a:xfrm>
          <a:prstGeom prst="rect">
            <a:avLst/>
          </a:prstGeom>
          <a:solidFill>
            <a:srgbClr val="0307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453896"/>
            <a:ext cx="914400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workstream has an owner, proof signal, and decision date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90-day delivery ledger</a:t>
            </a:r>
            <a:endParaRPr lang="en-US" sz="13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67712" y="1983791"/>
          <a:ext cx="5102352" cy="2337206"/>
        </p:xfrm>
        <a:graphic>
          <a:graphicData uri="http://schemas.openxmlformats.org/drawingml/2006/table">
            <a:tbl>
              <a:tblPr/>
              <a:tblGrid>
                <a:gridCol w="1275588"/>
                <a:gridCol w="1275588"/>
                <a:gridCol w="1275588"/>
                <a:gridCol w="1275588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Workstream</a:t>
                      </a:r>
                      <a:endParaRPr lang="en-US" sz="10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Owner</a:t>
                      </a:r>
                      <a:endParaRPr lang="en-US" sz="10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Proof signal</a:t>
                      </a:r>
                      <a:endParaRPr lang="en-US" sz="10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Decision</a:t>
                      </a:r>
                      <a:endParaRPr lang="en-US" sz="106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D3E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Baseline sensors</a:t>
                      </a:r>
                      <a:endParaRPr lang="en-US" sz="9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Climate lab</a:t>
                      </a:r>
                      <a:endParaRPr lang="en-US" sz="9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 blocks live</a:t>
                      </a:r>
                      <a:endParaRPr lang="en-US" sz="9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Day 14</a:t>
                      </a:r>
                      <a:endParaRPr lang="en-US" sz="9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A33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Shade corridor</a:t>
                      </a:r>
                      <a:endParaRPr lang="en-US" sz="9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Public works</a:t>
                      </a:r>
                      <a:endParaRPr lang="en-US" sz="9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2°C reduction</a:t>
                      </a:r>
                      <a:endParaRPr lang="en-US" sz="9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Day 60</a:t>
                      </a:r>
                      <a:endParaRPr lang="en-US" sz="9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02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Cool-roof cohort</a:t>
                      </a:r>
                      <a:endParaRPr lang="en-US" sz="9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Housing team</a:t>
                      </a:r>
                      <a:endParaRPr lang="en-US" sz="9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3°C reduction</a:t>
                      </a:r>
                      <a:endParaRPr lang="en-US" sz="9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Day 60</a:t>
                      </a:r>
                      <a:endParaRPr lang="en-US" sz="9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A33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Resident pulse</a:t>
                      </a:r>
                      <a:endParaRPr lang="en-US" sz="9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Community team</a:t>
                      </a:r>
                      <a:endParaRPr lang="en-US" sz="9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Comfort improves</a:t>
                      </a:r>
                      <a:endParaRPr lang="en-US" sz="9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Day 75</a:t>
                      </a:r>
                      <a:endParaRPr lang="en-US" sz="9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020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1691640"/>
            <a:ext cx="1399032" cy="2921508"/>
          </a:xfrm>
          <a:prstGeom prst="rect">
            <a:avLst/>
          </a:prstGeom>
          <a:solidFill>
            <a:srgbClr val="101A33"/>
          </a:solidFill>
          <a:ln w="6985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6928" y="1783080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INDEX</a:t>
            </a:r>
            <a:endParaRPr lang="en-US" sz="92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2112264"/>
            <a:ext cx="1179576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rows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Workstream · Owner · Proof signal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781544" y="1691640"/>
            <a:ext cx="905256" cy="2921508"/>
          </a:xfrm>
          <a:prstGeom prst="rect">
            <a:avLst/>
          </a:prstGeom>
          <a:solidFill>
            <a:srgbClr val="101A33"/>
          </a:solidFill>
          <a:ln w="8255">
            <a:solidFill>
              <a:srgbClr val="1E293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81544" y="1691640"/>
            <a:ext cx="64008" cy="29215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91272" y="180136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READOUT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891272" y="2221992"/>
            <a:ext cx="685800" cy="1068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only interventions that improve both measured heat and resident comfort.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heat resilience pilot | Telemetry Canvas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62/64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20240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9584" y="64008"/>
            <a:ext cx="1353312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38928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48272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68512" y="402336"/>
            <a:ext cx="292608" cy="4846320"/>
          </a:xfrm>
          <a:prstGeom prst="rect">
            <a:avLst/>
          </a:prstGeom>
          <a:solidFill>
            <a:srgbClr val="101A33">
              <a:alpha val="88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23376" y="1005840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23376" y="1901952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23376" y="2798064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3694176"/>
            <a:ext cx="182880" cy="16459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23376" y="4590288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23376" y="5486400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1453896"/>
          </a:xfrm>
          <a:prstGeom prst="rect">
            <a:avLst/>
          </a:prstGeom>
          <a:solidFill>
            <a:srgbClr val="0307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453896"/>
            <a:ext cx="914400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91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Authorize the pilot with four explicit conditions for scale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conditions and accountability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1691640"/>
            <a:ext cx="1481328" cy="2921508"/>
          </a:xfrm>
          <a:prstGeom prst="rect">
            <a:avLst/>
          </a:prstGeom>
          <a:solidFill>
            <a:srgbClr val="101A33"/>
          </a:solidFill>
          <a:ln w="8255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691640"/>
            <a:ext cx="64008" cy="29215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527048" y="1847088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12648" y="1847088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Proceed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12648" y="2377440"/>
            <a:ext cx="1170432" cy="660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 fourteen-block baseline and three intervention cohorts.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350008" y="1691640"/>
            <a:ext cx="2880360" cy="1051743"/>
          </a:xfrm>
          <a:prstGeom prst="rect">
            <a:avLst/>
          </a:prstGeom>
          <a:solidFill>
            <a:srgbClr val="101A33"/>
          </a:solidFill>
          <a:ln w="8255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0008" y="1691640"/>
            <a:ext cx="64008" cy="1051743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27448" y="184708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505456" y="18470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505456" y="2231136"/>
            <a:ext cx="2569464" cy="356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vulnerable residents and public-space access.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41848" y="1691640"/>
            <a:ext cx="3044952" cy="1051743"/>
          </a:xfrm>
          <a:prstGeom prst="rect">
            <a:avLst/>
          </a:prstGeom>
          <a:solidFill>
            <a:srgbClr val="101A33"/>
          </a:solidFill>
          <a:ln w="8255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41848" y="1691640"/>
            <a:ext cx="64008" cy="1051743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83880" y="184708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797296" y="1847088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797296" y="2231136"/>
            <a:ext cx="2734056" cy="356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temperature, comfort, uptime, and maintenance burden.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350008" y="2977104"/>
            <a:ext cx="6336792" cy="876452"/>
          </a:xfrm>
          <a:prstGeom prst="rect">
            <a:avLst/>
          </a:prstGeom>
          <a:solidFill>
            <a:srgbClr val="101A33"/>
          </a:solidFill>
          <a:ln w="8255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50008" y="2977104"/>
            <a:ext cx="64008" cy="8764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505456" y="3269026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3931920" y="3269026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scale an intervention that misses both proof thresholds.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641848" y="4087277"/>
            <a:ext cx="3044952" cy="525871"/>
          </a:xfrm>
          <a:prstGeom prst="rect">
            <a:avLst/>
          </a:prstGeom>
          <a:solidFill>
            <a:srgbClr val="030712"/>
          </a:solidFill>
          <a:ln w="8255">
            <a:solidFill>
              <a:srgbClr val="22D3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751576" y="4142141"/>
            <a:ext cx="2825496" cy="4161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Decision: release pilot funds now; return at day 90 with scale evidence.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heat resilience pilot | Telemetry Canvas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63/64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20240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9584" y="64008"/>
            <a:ext cx="1353312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38928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48272" y="64008"/>
            <a:ext cx="1353312" cy="109728"/>
          </a:xfrm>
          <a:prstGeom prst="rect">
            <a:avLst/>
          </a:prstGeom>
          <a:solidFill>
            <a:srgbClr val="1E293B">
              <a:alpha val="84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68512" y="402336"/>
            <a:ext cx="292608" cy="4846320"/>
          </a:xfrm>
          <a:prstGeom prst="rect">
            <a:avLst/>
          </a:prstGeom>
          <a:solidFill>
            <a:srgbClr val="101A33">
              <a:alpha val="88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23376" y="1005840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23376" y="1901952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23376" y="2798064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3694176"/>
            <a:ext cx="182880" cy="16459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23376" y="4590288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23376" y="5486400"/>
            <a:ext cx="182880" cy="16459"/>
          </a:xfrm>
          <a:prstGeom prst="rect">
            <a:avLst/>
          </a:prstGeom>
          <a:solidFill>
            <a:srgbClr val="1E293B">
              <a:alpha val="76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1034796"/>
          </a:xfrm>
          <a:prstGeom prst="rect">
            <a:avLst/>
          </a:prstGeom>
          <a:solidFill>
            <a:srgbClr val="0307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034796"/>
            <a:ext cx="914400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9144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 and sources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324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evidence register for the editable gallery</a:t>
            </a:r>
            <a:endParaRPr lang="en-US" sz="13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67712" y="1606601"/>
          <a:ext cx="5020056" cy="2672486"/>
        </p:xfrm>
        <a:graphic>
          <a:graphicData uri="http://schemas.openxmlformats.org/drawingml/2006/table">
            <a:tbl>
              <a:tblPr/>
              <a:tblGrid>
                <a:gridCol w="1673352"/>
                <a:gridCol w="1673352"/>
                <a:gridCol w="16733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Source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</a:t>
                      </a:r>
                      <a:endParaRPr lang="en-US" sz="8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3071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S1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Synthetic sensor baseline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Heat-gap framing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A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S2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Synthetic canopy inventory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Target blocks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0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S3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Synthetic intervention model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Scenario comparison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A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S4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Synthetic resident pulse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E2E8F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Comfort threshold</a:t>
                      </a:r>
                      <a:endParaRPr lang="en-US" sz="78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1020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1272540"/>
            <a:ext cx="1399032" cy="3340608"/>
          </a:xfrm>
          <a:prstGeom prst="rect">
            <a:avLst/>
          </a:prstGeom>
          <a:solidFill>
            <a:srgbClr val="101A33"/>
          </a:solidFill>
          <a:ln w="6985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6928" y="1363980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INDEX</a:t>
            </a:r>
            <a:endParaRPr lang="en-US" sz="92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1693164"/>
            <a:ext cx="1179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sources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· Source · Use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699248" y="1272540"/>
            <a:ext cx="987552" cy="3340608"/>
          </a:xfrm>
          <a:prstGeom prst="rect">
            <a:avLst/>
          </a:prstGeom>
          <a:solidFill>
            <a:srgbClr val="101A33"/>
          </a:solidFill>
          <a:ln w="6985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90688" y="1363980"/>
            <a:ext cx="80467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NOTES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7790688" y="1811020"/>
            <a:ext cx="804672" cy="1068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values are synthetic and included only to demonstrate source-aware slide structure.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4850892"/>
            <a:ext cx="41692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heat resilience pilot | Telemetry Canvas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64/64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v0.9 Full-Deck Taste Grammar Gallery</dc:title>
  <dc:subject>One urban heat topic rendered through eight editable role-layout grammars.</dc:subject>
  <dc:creator>PptxGenJS</dc:creator>
  <cp:lastModifiedBy>PptxGenJS</cp:lastModifiedBy>
  <cp:revision>1</cp:revision>
  <dcterms:created xsi:type="dcterms:W3CDTF">2026-07-14T06:42:18Z</dcterms:created>
  <dcterms:modified xsi:type="dcterms:W3CDTF">2026-07-14T06:42:18Z</dcterms:modified>
</cp:coreProperties>
</file>